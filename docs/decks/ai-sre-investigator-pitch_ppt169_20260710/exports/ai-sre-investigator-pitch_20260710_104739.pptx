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一句话定位：用自然语言调动 Mimir/Loki/Tempo，自动生成结构化 RCA。</a:t>
            </a:r>
          </a:p>
          <a:p>
            <a:r>
              <a:rPr lang="zh-CN" dirty="0"/>
              <a:t>• 三件可观察的事：① 让一线开发独立闭环 ② 解放 SRE 生产力 ③ 为 MCP 演进铺路。</a:t>
            </a:r>
          </a:p>
          <a:p>
            <a:r>
              <a:rPr lang="zh-CN" dirty="0"/>
              <a:t>• 来源：PRD §2、README。</a:t>
            </a:r>
          </a:p>
          <a:p>
            <a:r>
              <a:rPr lang="zh-CN" dirty="0"/>
              <a:t>• 引导下一张：接下来用一句话讲清楚为什么这件事必须做。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核心判断：把"全员找 SRE"变成"开发自己闭环"。</a:t>
            </a:r>
          </a:p>
          <a:p>
            <a:r>
              <a:rPr lang="zh-CN" dirty="0"/>
              <a:t>• 三个数字：80% 开发不熟 QL、1:N 挤兑、0 RCA 沉淀。</a:t>
            </a:r>
          </a:p>
          <a:p>
            <a:r>
              <a:rPr lang="zh-CN" dirty="0"/>
              <a:t>• 三条结论：自然语言到 RCA、只读+四层包装、原生 Tool-Calling。</a:t>
            </a:r>
          </a:p>
          <a:p>
            <a:r>
              <a:rPr lang="zh-CN" dirty="0"/>
              <a:t>• 引用：PRD §2 / ADR-001 / 002 / 003 / 004 / 005。</a:t>
            </a:r>
          </a:p>
          <a:p>
            <a:r>
              <a:rPr lang="zh-CN" dirty="0"/>
              <a:t>• 引导下一张：用一张对比图把痛点讲清楚。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三大痛点：QL 认知壁垒、多对一挤兑、RCA 沉淀缺失。</a:t>
            </a:r>
          </a:p>
          <a:p>
            <a:r>
              <a:rPr lang="zh-CN" dirty="0"/>
              <a:t>• 组织代价：MTTR 高、SRE 流失、复盘缺证据链、处置能力被锁死。</a:t>
            </a:r>
          </a:p>
          <a:p>
            <a:r>
              <a:rPr lang="zh-CN" dirty="0"/>
              <a:t>• 主桥：自然语言 → 自动 QL → 多步证据链 → 结构化 RCA · 一次排查产生的 RCA 同时是组织级资产。</a:t>
            </a:r>
          </a:p>
          <a:p>
            <a:r>
              <a:rPr lang="zh-CN" dirty="0"/>
              <a:t>• 引用：PRD §2、brainstorm §0。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Hero：让开发用"大白话"调动所有观测后端。</a:t>
            </a:r>
          </a:p>
          <a:p>
            <a:r>
              <a:rPr lang="zh-CN" dirty="0"/>
              <a:t>• 三个支撑：独立闭环、沉淀组织资产、解放 SRE。</a:t>
            </a:r>
          </a:p>
          <a:p>
            <a:r>
              <a:rPr lang="zh-CN" dirty="0"/>
              <a:t>• 边界声明：只读排查，绝不修改线上状态。</a:t>
            </a:r>
          </a:p>
          <a:p>
            <a:r>
              <a:rPr lang="zh-CN" dirty="0"/>
              <a:t>• 引用：PRD §2、brainstorm PM-1 / D-5、ADR-002。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三层：Frontend（Next.js）/ Backend（FastAPI + 原生 Tool-Calling）/ Toolset（Mimir/Loki/Tempo）。</a:t>
            </a:r>
          </a:p>
          <a:p>
            <a:r>
              <a:rPr lang="zh-CN" dirty="0"/>
              <a:t>• Backend 核心模块：Session Manager、Tool-Calling Loop、RCA Generator、SafeToolExecutor。</a:t>
            </a:r>
          </a:p>
          <a:p>
            <a:r>
              <a:rPr lang="zh-CN" dirty="0"/>
              <a:t>• Toolset 统一契约 + 可插拔注册表，对齐 MCP。</a:t>
            </a:r>
          </a:p>
          <a:p>
            <a:r>
              <a:rPr lang="zh-CN" dirty="0"/>
              <a:t>• ADR 索引：一页串起 6 个 ADR。</a:t>
            </a:r>
          </a:p>
          <a:p>
            <a:r>
              <a:rPr lang="zh-CN" dirty="0"/>
              <a:t>• 引用：PRD §4、README 架构图、ADR-001/002/003/004/005/006。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四步闭环：自然语言 → Tool Schema → 解析 tool_calls → 停止调用。</a:t>
            </a:r>
          </a:p>
          <a:p>
            <a:r>
              <a:rPr lang="zh-CN" dirty="0"/>
              <a:t>• 为什么拒绝框架：推理流可见、可约束、可调试；执行效率最优；为 MCP/GOAP 演进铺路。</a:t>
            </a:r>
          </a:p>
          <a:p>
            <a:r>
              <a:rPr lang="zh-CN" dirty="0"/>
              <a:t>• 引用：ADR-001、PRD §4/§7。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四道关卡：预算预检 / 查询缓存 / QL 预校验 / 失败自修正。</a:t>
            </a:r>
          </a:p>
          <a:p>
            <a:r>
              <a:rPr lang="zh-CN" dirty="0"/>
              <a:t>• 设计意义：四关透明生效、新工具零成本继承、把红线从"不崩"升级为"自愈+可控"。</a:t>
            </a:r>
          </a:p>
          <a:p>
            <a:r>
              <a:rPr lang="zh-CN" dirty="0"/>
              <a:t>• 引用：ADR-003/004、tech-design-ql-selfheal。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三类典型失败：QL 自修正耗尽、后端 5xx/超时、预算耗尽。</a:t>
            </a:r>
          </a:p>
          <a:p>
            <a:r>
              <a:rPr lang="zh-CN" dirty="0"/>
              <a:t>• 我们的处置：不崩、不静默、不臆测；用已收集证据生成"部分 RCA"；顶部显式标注证据缺口。</a:t>
            </a:r>
          </a:p>
          <a:p>
            <a:r>
              <a:rPr lang="zh-CN" dirty="0"/>
              <a:t>• 闭环：配合 D-5 诚实不确定性 + PM-2 置信度升级机制。</a:t>
            </a:r>
          </a:p>
          <a:p>
            <a:r>
              <a:rPr lang="zh-CN" dirty="0"/>
              <a:t>• 引用：ADR-005、brainstorm D-5 / PM-2。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场景：payment-service 刚才为什么大量 500？</a:t>
            </a:r>
          </a:p>
          <a:p>
            <a:r>
              <a:rPr lang="zh-CN" dirty="0"/>
              <a:t>• 六步链路：用户提问 → 查 Mimir（5xx）→ 锁定异常窗 → 查 Loki（堆栈）→ 查 Tempo（慢 Trace）→ 结构化 RCA。</a:t>
            </a:r>
          </a:p>
          <a:p>
            <a:r>
              <a:rPr lang="zh-CN" dirty="0"/>
              <a:t>• 报告结构：服务与问题 / 时间线 / 证据 / 根因+修复建议。</a:t>
            </a:r>
          </a:p>
          <a:p>
            <a:r>
              <a:rPr lang="zh-CN" dirty="0"/>
              <a:t>• 示例数据为示意，来源：PRD §5/§7 Task 3。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Backend：Python 3.12 + FastAPI + Pydantic v2 + HTTPX + openai SDK。</a:t>
            </a:r>
          </a:p>
          <a:p>
            <a:r>
              <a:rPr lang="zh-CN" dirty="0"/>
              <a:t>• Frontend：Next.js App Router + Tailwind + React Markdown + SSE 客户端。</a:t>
            </a:r>
          </a:p>
          <a:p>
            <a:r>
              <a:rPr lang="zh-CN" dirty="0"/>
              <a:t>• 四特质：异步优先、强类型、无状态云原生、Pydantic Schema → tools。</a:t>
            </a:r>
          </a:p>
          <a:p>
            <a:r>
              <a:rPr lang="zh-CN" dirty="0"/>
              <a:t>• 引用：ADR-006、PRD §6。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四阶段：V1.0（本季度）→ V1.1（次季度）→ V2.0（半年+）→ 远期。</a:t>
            </a:r>
          </a:p>
          <a:p>
            <a:r>
              <a:rPr lang="zh-CN" dirty="0"/>
              <a:t>• 远期前置：置信度体系 + 人工闸门 + ADR-005（先读得准，再写得对）。</a:t>
            </a:r>
          </a:p>
          <a:p>
            <a:r>
              <a:rPr lang="zh-CN" dirty="0"/>
              <a:t>• 假设：H1 自修正成功率 ≥70%、H2 缓存收益 &gt; 复杂度成本。</a:t>
            </a:r>
          </a:p>
          <a:p>
            <a:r>
              <a:rPr lang="zh-CN" dirty="0"/>
              <a:t>• 风险：LLM QL 错误率、观测后端 5xx、组织信任建立曲线。</a:t>
            </a:r>
          </a:p>
          <a:p>
            <a:r>
              <a:rPr lang="zh-CN" dirty="0"/>
              <a:t>• 成功标准：自闭环率、MTTR-Invest、SRE 被打扰次数。</a:t>
            </a:r>
          </a:p>
          <a:p>
            <a:r>
              <a:rPr lang="zh-CN" dirty="0"/>
              <a:t>• 引用：tech-design-ql-selfheal §1、brainstorm Top 5。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Hero：让每个开发都能独立闭环自己的故障。</a:t>
            </a:r>
          </a:p>
          <a:p>
            <a:r>
              <a:rPr lang="zh-CN" dirty="0"/>
              <a:t>• 副标：SRE 不再是"查日志客服"，而是平台工程师。</a:t>
            </a:r>
          </a:p>
          <a:p>
            <a:r>
              <a:rPr lang="zh-CN" dirty="0"/>
              <a:t>• 三个期望：阅读材料、立项目标、共同评审。</a:t>
            </a:r>
          </a:p>
          <a:p>
            <a:r>
              <a:rPr lang="zh-CN" dirty="0"/>
              <a:t>• 收尾语：我们不是替代 SRE，而是把 SRE 拉回最有杠杆的岗位。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A6">
                  <a:alpha val="22000"/>
                </a:srgbClr>
              </a:gs>
              <a:gs pos="100000">
                <a:srgbClr val="00A6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539750"/>
            <a:ext cx="12192000" cy="571500"/>
            <a:chOff x="0" y="539750"/>
            <a:chExt cx="12192000" cy="571500"/>
          </a:xfrm>
        </p:grpSpPr>
        <p:sp>
          <p:nvSpPr>
            <p:cNvPr id="5" name="Freeform 5"/>
            <p:cNvSpPr/>
            <p:nvPr/>
          </p:nvSpPr>
          <p:spPr>
            <a:xfrm>
              <a:off x="0" y="539750"/>
              <a:ext cx="12192000" cy="254000"/>
            </a:xfrm>
            <a:custGeom>
              <a:avLst/>
              <a:gdLst/>
              <a:ahLst/>
              <a:cxnLst/>
              <a:rect l="l" t="t" r="r" b="b"/>
              <a:pathLst>
                <a:path w="12192000" h="254000">
                  <a:moveTo>
                    <a:pt x="0" y="127000"/>
                  </a:moveTo>
                  <a:cubicBezTo>
                    <a:pt x="508000" y="0"/>
                    <a:pt x="1016000" y="0"/>
                    <a:pt x="1524000" y="127000"/>
                  </a:cubicBezTo>
                  <a:cubicBezTo>
                    <a:pt x="2032000" y="254000"/>
                    <a:pt x="2540000" y="254000"/>
                    <a:pt x="3048000" y="127000"/>
                  </a:cubicBezTo>
                  <a:cubicBezTo>
                    <a:pt x="3556000" y="0"/>
                    <a:pt x="4064000" y="0"/>
                    <a:pt x="4572000" y="127000"/>
                  </a:cubicBezTo>
                  <a:cubicBezTo>
                    <a:pt x="5080000" y="254000"/>
                    <a:pt x="5588000" y="254000"/>
                    <a:pt x="6096000" y="127000"/>
                  </a:cubicBezTo>
                  <a:cubicBezTo>
                    <a:pt x="6604000" y="0"/>
                    <a:pt x="7112000" y="0"/>
                    <a:pt x="7620000" y="127000"/>
                  </a:cubicBezTo>
                  <a:cubicBezTo>
                    <a:pt x="8128000" y="254000"/>
                    <a:pt x="8636000" y="254000"/>
                    <a:pt x="9144000" y="127000"/>
                  </a:cubicBezTo>
                  <a:cubicBezTo>
                    <a:pt x="9652000" y="0"/>
                    <a:pt x="10160000" y="0"/>
                    <a:pt x="10668000" y="127000"/>
                  </a:cubicBezTo>
                  <a:cubicBezTo>
                    <a:pt x="11176000" y="254000"/>
                    <a:pt x="11684000" y="254000"/>
                    <a:pt x="12192000" y="127000"/>
                  </a:cubicBezTo>
                </a:path>
              </a:pathLst>
            </a:custGeom>
            <a:noFill/>
            <a:ln w="13335">
              <a:solidFill>
                <a:srgbClr val="00A6A6">
                  <a:alpha val="55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768350"/>
              <a:ext cx="12192000" cy="177800"/>
            </a:xfrm>
            <a:custGeom>
              <a:avLst/>
              <a:gdLst/>
              <a:ahLst/>
              <a:cxnLst/>
              <a:rect l="l" t="t" r="r" b="b"/>
              <a:pathLst>
                <a:path w="12192000" h="177800">
                  <a:moveTo>
                    <a:pt x="0" y="88900"/>
                  </a:moveTo>
                  <a:cubicBezTo>
                    <a:pt x="508000" y="0"/>
                    <a:pt x="1016000" y="0"/>
                    <a:pt x="1524000" y="88900"/>
                  </a:cubicBezTo>
                  <a:cubicBezTo>
                    <a:pt x="2032000" y="177800"/>
                    <a:pt x="2540000" y="177800"/>
                    <a:pt x="3048000" y="88900"/>
                  </a:cubicBezTo>
                  <a:cubicBezTo>
                    <a:pt x="3556000" y="0"/>
                    <a:pt x="4064000" y="0"/>
                    <a:pt x="4572000" y="88900"/>
                  </a:cubicBezTo>
                  <a:cubicBezTo>
                    <a:pt x="5080000" y="177800"/>
                    <a:pt x="5588000" y="177800"/>
                    <a:pt x="6096000" y="88900"/>
                  </a:cubicBezTo>
                  <a:cubicBezTo>
                    <a:pt x="6604000" y="0"/>
                    <a:pt x="7112000" y="0"/>
                    <a:pt x="7620000" y="88900"/>
                  </a:cubicBezTo>
                  <a:cubicBezTo>
                    <a:pt x="8128000" y="177800"/>
                    <a:pt x="8636000" y="177800"/>
                    <a:pt x="9144000" y="88900"/>
                  </a:cubicBezTo>
                  <a:cubicBezTo>
                    <a:pt x="9652000" y="0"/>
                    <a:pt x="10160000" y="0"/>
                    <a:pt x="10668000" y="88900"/>
                  </a:cubicBezTo>
                  <a:cubicBezTo>
                    <a:pt x="11176000" y="177800"/>
                    <a:pt x="11684000" y="177800"/>
                    <a:pt x="12192000" y="88900"/>
                  </a:cubicBezTo>
                </a:path>
              </a:pathLst>
            </a:custGeom>
            <a:noFill/>
            <a:ln w="9525">
              <a:solidFill>
                <a:srgbClr val="4A6FA5">
                  <a:alpha val="45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984250"/>
              <a:ext cx="12192000" cy="127000"/>
            </a:xfrm>
            <a:custGeom>
              <a:avLst/>
              <a:gdLst/>
              <a:ahLst/>
              <a:cxnLst/>
              <a:rect l="l" t="t" r="r" b="b"/>
              <a:pathLst>
                <a:path w="12192000" h="127000">
                  <a:moveTo>
                    <a:pt x="0" y="63500"/>
                  </a:moveTo>
                  <a:cubicBezTo>
                    <a:pt x="508000" y="0"/>
                    <a:pt x="1016000" y="0"/>
                    <a:pt x="1524000" y="63500"/>
                  </a:cubicBezTo>
                  <a:cubicBezTo>
                    <a:pt x="2032000" y="127000"/>
                    <a:pt x="2540000" y="127000"/>
                    <a:pt x="3048000" y="63500"/>
                  </a:cubicBezTo>
                  <a:cubicBezTo>
                    <a:pt x="3556000" y="0"/>
                    <a:pt x="4064000" y="0"/>
                    <a:pt x="4572000" y="63500"/>
                  </a:cubicBezTo>
                  <a:cubicBezTo>
                    <a:pt x="5080000" y="127000"/>
                    <a:pt x="5588000" y="127000"/>
                    <a:pt x="6096000" y="63500"/>
                  </a:cubicBezTo>
                  <a:cubicBezTo>
                    <a:pt x="6604000" y="0"/>
                    <a:pt x="7112000" y="0"/>
                    <a:pt x="7620000" y="63500"/>
                  </a:cubicBezTo>
                  <a:cubicBezTo>
                    <a:pt x="8128000" y="127000"/>
                    <a:pt x="8636000" y="127000"/>
                    <a:pt x="9144000" y="63500"/>
                  </a:cubicBezTo>
                  <a:cubicBezTo>
                    <a:pt x="9652000" y="0"/>
                    <a:pt x="10160000" y="0"/>
                    <a:pt x="10668000" y="63500"/>
                  </a:cubicBezTo>
                  <a:cubicBezTo>
                    <a:pt x="11176000" y="127000"/>
                    <a:pt x="11684000" y="127000"/>
                    <a:pt x="12192000" y="63500"/>
                  </a:cubicBezTo>
                </a:path>
              </a:pathLst>
            </a:custGeom>
            <a:noFill/>
            <a:ln w="7620">
              <a:solidFill>
                <a:srgbClr val="FFFFFF">
                  <a:alpha val="25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905000"/>
            <a:ext cx="57150" cy="2286000"/>
            <a:chOff x="762000" y="1905000"/>
            <a:chExt cx="57150" cy="2286000"/>
          </a:xfrm>
        </p:grpSpPr>
        <p:sp>
          <p:nvSpPr>
            <p:cNvPr id="9" name="Rectangle 9"/>
            <p:cNvSpPr/>
            <p:nvPr/>
          </p:nvSpPr>
          <p:spPr>
            <a:xfrm>
              <a:off x="762000" y="1905000"/>
              <a:ext cx="57150" cy="22860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905000"/>
              <a:ext cx="57150" cy="2286000"/>
            </a:xfrm>
            <a:prstGeom prst="rect">
              <a:avLst/>
            </a:prstGeom>
            <a:gradFill>
              <a:gsLst>
                <a:gs pos="0">
                  <a:srgbClr val="00A6A6">
                    <a:alpha val="0"/>
                  </a:srgbClr>
                </a:gs>
                <a:gs pos="50000">
                  <a:srgbClr val="00A6A6">
                    <a:alpha val="60000"/>
                  </a:srgbClr>
                </a:gs>
                <a:gs pos="100000">
                  <a:srgbClr val="00A6A6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34415" y="1982152"/>
            <a:ext cx="15161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MVP V1.0 · 立项评审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1075" y="2481262"/>
            <a:ext cx="7540276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2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SRE Investigator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130" y="3373755"/>
            <a:ext cx="496445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8C0DA"/>
                </a:solidFill>
                <a:latin typeface="Arial"/>
                <a:ea typeface="Microsoft YaHei"/>
                <a:cs typeface="Arial"/>
              </a:rPr>
              <a:t>自然语言驱动的可观测性 RCA 助手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750" y="3933825"/>
            <a:ext cx="71032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C0DA"/>
                </a:solidFill>
                <a:latin typeface="Arial"/>
                <a:ea typeface="Microsoft YaHei"/>
                <a:cs typeface="Arial"/>
              </a:rPr>
              <a:t>让开发用"大白话"调动 Mimir / Loki / Tempo，自动生成结构化根因报告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47712" y="5334000"/>
            <a:ext cx="10695623" cy="611981"/>
            <a:chOff x="747712" y="5334000"/>
            <a:chExt cx="10695623" cy="611981"/>
          </a:xfrm>
        </p:grpSpPr>
        <p:sp>
          <p:nvSpPr>
            <p:cNvPr id="16" name="Rectangle 16"/>
            <p:cNvSpPr/>
            <p:nvPr/>
          </p:nvSpPr>
          <p:spPr>
            <a:xfrm>
              <a:off x="762000" y="5334000"/>
              <a:ext cx="10668000" cy="9525"/>
            </a:xfrm>
            <a:prstGeom prst="rect">
              <a:avLst/>
            </a:prstGeom>
            <a:solidFill>
              <a:srgbClr val="4A6FA5">
                <a:alpha val="4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7712" y="56888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896A6"/>
                  </a:solidFill>
                  <a:latin typeface="Arial"/>
                  <a:ea typeface="Microsoft YaHei"/>
                  <a:cs typeface="Arial"/>
                </a:rPr>
                <a:t>项目自有术语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714500" y="5638800"/>
              <a:ext cx="3162300" cy="307181"/>
              <a:chOff x="1714500" y="5638800"/>
              <a:chExt cx="3162300" cy="307181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714500" y="5638800"/>
                <a:ext cx="952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>
                  <a:alpha val="6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947871" y="5717381"/>
                <a:ext cx="4857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Mimir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819400" y="5638800"/>
                <a:ext cx="952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>
                  <a:alpha val="6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113154" y="5717381"/>
                <a:ext cx="3649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Loki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924300" y="5638800"/>
                <a:ext cx="952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>
                  <a:alpha val="6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131793" y="5717381"/>
                <a:ext cx="5375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Tempo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9821799" y="5725478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896A6"/>
                  </a:solidFill>
                  <a:latin typeface="Arial"/>
                  <a:ea typeface="Microsoft YaHei"/>
                  <a:cs typeface="Arial"/>
                </a:rPr>
                <a:t>2026-07-10 · 内部评审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810500" y="1905000"/>
            <a:ext cx="3619500" cy="2286000"/>
            <a:chOff x="7810500" y="1905000"/>
            <a:chExt cx="3619500" cy="2286000"/>
          </a:xfrm>
        </p:grpSpPr>
        <p:sp>
          <p:nvSpPr>
            <p:cNvPr id="27" name="Rectangle 27"/>
            <p:cNvSpPr/>
            <p:nvPr/>
          </p:nvSpPr>
          <p:spPr>
            <a:xfrm>
              <a:off x="7810500" y="1905000"/>
              <a:ext cx="3619500" cy="2286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4000"/>
              </a:srgbClr>
            </a:solidFill>
            <a:ln w="13335">
              <a:solidFill>
                <a:srgbClr val="00A6A6">
                  <a:alpha val="4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65770" y="2112645"/>
              <a:ext cx="19813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A6A6"/>
                  </a:solidFill>
                  <a:latin typeface="Consolas"/>
                  <a:ea typeface="Microsoft YaHei"/>
                  <a:cs typeface="Consolas"/>
                </a:rPr>
                <a:t>$ investigate payment-service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077200" y="2476500"/>
              <a:ext cx="2933700" cy="571500"/>
              <a:chOff x="8077200" y="2476500"/>
              <a:chExt cx="2933700" cy="571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077200" y="2667000"/>
                <a:ext cx="190500" cy="381000"/>
              </a:xfrm>
              <a:prstGeom prst="rect">
                <a:avLst/>
              </a:prstGeom>
              <a:solidFill>
                <a:srgbClr val="00A6A6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8382000" y="2571750"/>
                <a:ext cx="190500" cy="476250"/>
              </a:xfrm>
              <a:prstGeom prst="rect">
                <a:avLst/>
              </a:prstGeom>
              <a:solidFill>
                <a:srgbClr val="00A6A6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686800" y="2762250"/>
                <a:ext cx="190500" cy="285750"/>
              </a:xfrm>
              <a:prstGeom prst="rect">
                <a:avLst/>
              </a:prstGeom>
              <a:solidFill>
                <a:srgbClr val="00A6A6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991600" y="2524125"/>
                <a:ext cx="190500" cy="523875"/>
              </a:xfrm>
              <a:prstGeom prst="rect">
                <a:avLst/>
              </a:prstGeom>
              <a:solidFill>
                <a:srgbClr val="00A6A6">
                  <a:alpha val="90000"/>
                </a:srgbClr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296400" y="2686050"/>
                <a:ext cx="190500" cy="361950"/>
              </a:xfrm>
              <a:prstGeom prst="rect">
                <a:avLst/>
              </a:prstGeom>
              <a:solidFill>
                <a:srgbClr val="00A6A6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601200" y="2609850"/>
                <a:ext cx="190500" cy="438150"/>
              </a:xfrm>
              <a:prstGeom prst="rect">
                <a:avLst/>
              </a:prstGeom>
              <a:solidFill>
                <a:srgbClr val="00A6A6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9906000" y="2743200"/>
                <a:ext cx="190500" cy="304800"/>
              </a:xfrm>
              <a:prstGeom prst="rect">
                <a:avLst/>
              </a:prstGeom>
              <a:solidFill>
                <a:srgbClr val="00A6A6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210800" y="2552700"/>
                <a:ext cx="190500" cy="495300"/>
              </a:xfrm>
              <a:prstGeom prst="rect">
                <a:avLst/>
              </a:prstGeom>
              <a:solidFill>
                <a:srgbClr val="00A6A6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10515600" y="2647950"/>
                <a:ext cx="190500" cy="400050"/>
              </a:xfrm>
              <a:prstGeom prst="rect">
                <a:avLst/>
              </a:prstGeom>
              <a:solidFill>
                <a:srgbClr val="00A6A6">
                  <a:alpha val="65000"/>
                </a:srgbClr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10820400" y="2476500"/>
                <a:ext cx="190500" cy="571500"/>
              </a:xfrm>
              <a:prstGeom prst="rect">
                <a:avLst/>
              </a:prstGeom>
              <a:solidFill>
                <a:srgbClr val="00A6A6">
                  <a:alpha val="95000"/>
                </a:srgbClr>
              </a:solidFill>
              <a:ln>
                <a:noFill/>
              </a:ln>
            </p:spPr>
          </p:sp>
        </p:grpSp>
        <p:sp>
          <p:nvSpPr>
            <p:cNvPr id="40" name="Freeform 40"/>
            <p:cNvSpPr/>
            <p:nvPr/>
          </p:nvSpPr>
          <p:spPr>
            <a:xfrm>
              <a:off x="8077200" y="3429000"/>
              <a:ext cx="3067050" cy="666750"/>
            </a:xfrm>
            <a:custGeom>
              <a:avLst/>
              <a:gdLst/>
              <a:ahLst/>
              <a:cxnLst/>
              <a:rect l="l" t="t" r="r" b="b"/>
              <a:pathLst>
                <a:path w="3067050" h="666750">
                  <a:moveTo>
                    <a:pt x="0" y="476250"/>
                  </a:moveTo>
                  <a:lnTo>
                    <a:pt x="304800" y="476250"/>
                  </a:lnTo>
                  <a:lnTo>
                    <a:pt x="447675" y="190500"/>
                  </a:lnTo>
                  <a:lnTo>
                    <a:pt x="590550" y="666750"/>
                  </a:lnTo>
                  <a:lnTo>
                    <a:pt x="733425" y="0"/>
                  </a:lnTo>
                  <a:lnTo>
                    <a:pt x="923925" y="523875"/>
                  </a:lnTo>
                  <a:lnTo>
                    <a:pt x="1162050" y="476250"/>
                  </a:lnTo>
                  <a:lnTo>
                    <a:pt x="1352550" y="190500"/>
                  </a:lnTo>
                  <a:lnTo>
                    <a:pt x="1543050" y="476250"/>
                  </a:lnTo>
                  <a:lnTo>
                    <a:pt x="1733550" y="476250"/>
                  </a:lnTo>
                  <a:lnTo>
                    <a:pt x="1924050" y="95250"/>
                  </a:lnTo>
                  <a:lnTo>
                    <a:pt x="2162175" y="476250"/>
                  </a:lnTo>
                  <a:lnTo>
                    <a:pt x="2400300" y="476250"/>
                  </a:lnTo>
                  <a:lnTo>
                    <a:pt x="2590800" y="0"/>
                  </a:lnTo>
                  <a:lnTo>
                    <a:pt x="2828925" y="523875"/>
                  </a:lnTo>
                  <a:lnTo>
                    <a:pt x="3067050" y="476250"/>
                  </a:lnTo>
                </a:path>
              </a:pathLst>
            </a:custGeom>
            <a:noFill/>
            <a:ln w="19050">
              <a:solidFill>
                <a:srgbClr val="00A6A6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66722" y="4006691"/>
              <a:ext cx="33043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A8C0DA"/>
                  </a:solidFill>
                  <a:latin typeface="Consolas"/>
                  <a:ea typeface="Microsoft YaHei"/>
                  <a:cs typeface="Consolas"/>
                </a:rPr>
                <a:t>error_rate peak @ 14:23:17 · 5xx burst · trace_id 8f3a…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1522" y="6483191"/>
            <a:ext cx="49851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内部立项评审 · 资料来源：PRD / 6 个 ADR / tech-design-ql-selfheal / brainstorm-ideas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26" grpId="0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98158" y="457200"/>
            <a:ext cx="8645382" cy="1157288"/>
            <a:chOff x="498158" y="457200"/>
            <a:chExt cx="8645382" cy="1157288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048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1515" y="5724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02 · TL;DR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98158" y="824389"/>
              <a:ext cx="864538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一句话：把"全员找 SRE"变成"开发自己闭环"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1340168"/>
              <a:ext cx="8453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自然语言 → 自动 QL 转化 → 多步证据 → 结构化 RCA · 让一线开发独立排查，让 SRE 回归平台工程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905000"/>
            <a:ext cx="3413998" cy="4191000"/>
            <a:chOff x="533400" y="1905000"/>
            <a:chExt cx="3413998" cy="4191000"/>
          </a:xfrm>
        </p:grpSpPr>
        <p:sp>
          <p:nvSpPr>
            <p:cNvPr id="8" name="Rectangle 8"/>
            <p:cNvSpPr/>
            <p:nvPr/>
          </p:nvSpPr>
          <p:spPr>
            <a:xfrm>
              <a:off x="533400" y="1905000"/>
              <a:ext cx="3048000" cy="4191000"/>
            </a:xfrm>
            <a:prstGeom prst="roundRect">
              <a:avLst>
                <a:gd name="adj" fmla="val 1875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7712" y="21645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为什么必须做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24384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23900" y="2438400"/>
              <a:ext cx="3223498" cy="912019"/>
              <a:chOff x="723900" y="2438400"/>
              <a:chExt cx="3223498" cy="912019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23900" y="2438400"/>
                <a:ext cx="835295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80%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7712" y="2945606"/>
                <a:ext cx="31996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一线开发不熟 PromQL / LogQL / TraceQL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9618" y="3152299"/>
                <a:ext cx="1769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（依赖 SRE 预设面板排查）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23900" y="3486150"/>
              <a:ext cx="2393751" cy="912019"/>
              <a:chOff x="723900" y="3486150"/>
              <a:chExt cx="2393751" cy="91201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23900" y="3486150"/>
                <a:ext cx="996315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1 : N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47712" y="3993356"/>
                <a:ext cx="23699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极少数 SRE 服务全公司排查请求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9618" y="4200049"/>
                <a:ext cx="1462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（"多对一"人力灾难）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3900" y="4533900"/>
              <a:ext cx="2722364" cy="912019"/>
              <a:chOff x="723900" y="4533900"/>
              <a:chExt cx="2722364" cy="912019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23900" y="4533900"/>
                <a:ext cx="329232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47712" y="5041106"/>
                <a:ext cx="26985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组织级 RCA 沉淀，肌肉记忆仅在个人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9618" y="5247799"/>
                <a:ext cx="19969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（事后整理耗时 · MTTR 居高）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4000500" y="1905000"/>
            <a:ext cx="8918448" cy="4095750"/>
            <a:chOff x="4000500" y="1905000"/>
            <a:chExt cx="8918448" cy="4095750"/>
          </a:xfrm>
        </p:grpSpPr>
        <p:grpSp>
          <p:nvGrpSpPr>
            <p:cNvPr id="30" name="Group 30"/>
            <p:cNvGrpSpPr/>
            <p:nvPr/>
          </p:nvGrpSpPr>
          <p:grpSpPr>
            <a:xfrm>
              <a:off x="4000500" y="1905000"/>
              <a:ext cx="8918448" cy="1238250"/>
              <a:chOff x="4000500" y="1905000"/>
              <a:chExt cx="8918448" cy="1238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00500" y="1905000"/>
                <a:ext cx="7620000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000500" y="1905000"/>
                <a:ext cx="57150" cy="1238250"/>
              </a:xfrm>
              <a:prstGeom prst="rect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229100" y="2171700"/>
                <a:ext cx="45720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28625">
                    <a:moveTo>
                      <a:pt x="257175" y="0"/>
                    </a:moveTo>
                    <a:lnTo>
                      <a:pt x="257175" y="57150"/>
                    </a:lnTo>
                    <a:lnTo>
                      <a:pt x="371475" y="57150"/>
                    </a:lnTo>
                    <a:lnTo>
                      <a:pt x="457200" y="242888"/>
                    </a:lnTo>
                    <a:lnTo>
                      <a:pt x="371475" y="428625"/>
                    </a:lnTo>
                    <a:lnTo>
                      <a:pt x="85725" y="428625"/>
                    </a:lnTo>
                    <a:lnTo>
                      <a:pt x="0" y="242888"/>
                    </a:lnTo>
                    <a:lnTo>
                      <a:pt x="85725" y="57150"/>
                    </a:lnTo>
                    <a:lnTo>
                      <a:pt x="200025" y="57150"/>
                    </a:lnTo>
                    <a:lnTo>
                      <a:pt x="200025" y="0"/>
                    </a:lnTo>
                    <a:lnTo>
                      <a:pt x="257175" y="0"/>
                    </a:lnTo>
                    <a:close/>
                    <a:moveTo>
                      <a:pt x="131386" y="335425"/>
                    </a:moveTo>
                    <a:lnTo>
                      <a:pt x="228600" y="350381"/>
                    </a:lnTo>
                    <a:lnTo>
                      <a:pt x="325815" y="335425"/>
                    </a:lnTo>
                    <a:lnTo>
                      <a:pt x="317122" y="278939"/>
                    </a:lnTo>
                    <a:lnTo>
                      <a:pt x="228600" y="292557"/>
                    </a:lnTo>
                    <a:lnTo>
                      <a:pt x="140076" y="278939"/>
                    </a:lnTo>
                    <a:lnTo>
                      <a:pt x="131386" y="335425"/>
                    </a:lnTo>
                    <a:close/>
                    <a:moveTo>
                      <a:pt x="200025" y="192881"/>
                    </a:moveTo>
                    <a:cubicBezTo>
                      <a:pt x="200025" y="212608"/>
                      <a:pt x="184033" y="228600"/>
                      <a:pt x="164306" y="228600"/>
                    </a:cubicBezTo>
                    <a:cubicBezTo>
                      <a:pt x="144579" y="228600"/>
                      <a:pt x="128588" y="212608"/>
                      <a:pt x="128588" y="192881"/>
                    </a:cubicBezTo>
                    <a:cubicBezTo>
                      <a:pt x="128588" y="173154"/>
                      <a:pt x="144579" y="157162"/>
                      <a:pt x="164306" y="157162"/>
                    </a:cubicBezTo>
                    <a:cubicBezTo>
                      <a:pt x="184033" y="157162"/>
                      <a:pt x="200025" y="173154"/>
                      <a:pt x="200025" y="192881"/>
                    </a:cubicBezTo>
                    <a:close/>
                    <a:moveTo>
                      <a:pt x="292894" y="228600"/>
                    </a:moveTo>
                    <a:cubicBezTo>
                      <a:pt x="312622" y="228600"/>
                      <a:pt x="328612" y="212608"/>
                      <a:pt x="328612" y="192881"/>
                    </a:cubicBezTo>
                    <a:cubicBezTo>
                      <a:pt x="328612" y="173154"/>
                      <a:pt x="312622" y="157162"/>
                      <a:pt x="292894" y="157162"/>
                    </a:cubicBezTo>
                    <a:cubicBezTo>
                      <a:pt x="273167" y="157162"/>
                      <a:pt x="257175" y="173154"/>
                      <a:pt x="257175" y="192881"/>
                    </a:cubicBezTo>
                    <a:cubicBezTo>
                      <a:pt x="257175" y="212608"/>
                      <a:pt x="273167" y="228600"/>
                      <a:pt x="292894" y="228600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855845" y="2165032"/>
                <a:ext cx="510254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自然语言 → 自动 QL → 多步证据 → 结构化 RCA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61560" y="2537460"/>
                <a:ext cx="80573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用户用大白话申告，Agent 自动转 PromQL / LogQL / TraceQL，跨 Mimir / Loki / Tempo 多步探针，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861560" y="2766060"/>
                <a:ext cx="33604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最终输出可下钻、可分享的根因分析报告。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000500" y="3333750"/>
              <a:ext cx="8918448" cy="1238250"/>
              <a:chOff x="4000500" y="3333750"/>
              <a:chExt cx="8918448" cy="1238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000500" y="3333750"/>
                <a:ext cx="7620000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000500" y="3333750"/>
                <a:ext cx="57150" cy="1238250"/>
              </a:xfrm>
              <a:prstGeom prst="rect">
                <a:avLst/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257675" y="3600450"/>
                <a:ext cx="4000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7200">
                    <a:moveTo>
                      <a:pt x="200025" y="457200"/>
                    </a:moveTo>
                    <a:lnTo>
                      <a:pt x="95729" y="382702"/>
                    </a:lnTo>
                    <a:cubicBezTo>
                      <a:pt x="35654" y="339791"/>
                      <a:pt x="0" y="270510"/>
                      <a:pt x="0" y="196683"/>
                    </a:cubicBezTo>
                    <a:lnTo>
                      <a:pt x="0" y="85725"/>
                    </a:lnTo>
                    <a:lnTo>
                      <a:pt x="200025" y="0"/>
                    </a:lnTo>
                    <a:lnTo>
                      <a:pt x="400050" y="85725"/>
                    </a:lnTo>
                    <a:lnTo>
                      <a:pt x="400050" y="196683"/>
                    </a:lnTo>
                    <a:cubicBezTo>
                      <a:pt x="400050" y="270510"/>
                      <a:pt x="364397" y="339791"/>
                      <a:pt x="304321" y="382702"/>
                    </a:cubicBezTo>
                    <a:lnTo>
                      <a:pt x="200025" y="457200"/>
                    </a:lnTo>
                    <a:close/>
                    <a:moveTo>
                      <a:pt x="320243" y="163081"/>
                    </a:moveTo>
                    <a:lnTo>
                      <a:pt x="279832" y="122669"/>
                    </a:lnTo>
                    <a:lnTo>
                      <a:pt x="171450" y="231051"/>
                    </a:lnTo>
                    <a:lnTo>
                      <a:pt x="120218" y="179819"/>
                    </a:lnTo>
                    <a:lnTo>
                      <a:pt x="79807" y="220231"/>
                    </a:lnTo>
                    <a:lnTo>
                      <a:pt x="171450" y="311873"/>
                    </a:lnTo>
                    <a:lnTo>
                      <a:pt x="320243" y="163081"/>
                    </a:lnTo>
                    <a:close/>
                  </a:path>
                </a:pathLst>
              </a:cu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855845" y="3593782"/>
                <a:ext cx="459647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只读边界 + SafeToolExecutor 四层包装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61560" y="3966210"/>
                <a:ext cx="80573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Agent 永不修改线上状态（ADR-002）；QL 预校验 / 失败自修正 / 缓存 / 预算四道关卡（ADR-004），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861560" y="4194810"/>
                <a:ext cx="46836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把"不崩"升级为"自愈 + 可控"，让"读得准"先于"写得对"。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4000500" y="4762500"/>
              <a:ext cx="8848344" cy="1238250"/>
              <a:chOff x="4000500" y="4762500"/>
              <a:chExt cx="8848344" cy="1238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000500" y="4762500"/>
                <a:ext cx="7620000" cy="1238250"/>
              </a:xfrm>
              <a:prstGeom prst="roundRect">
                <a:avLst>
                  <a:gd name="adj" fmla="val 4615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4000500" y="4762500"/>
                <a:ext cx="57150" cy="1238250"/>
              </a:xfrm>
              <a:prstGeom prst="rect">
                <a:avLst/>
              </a:prstGeom>
              <a:solidFill>
                <a:srgbClr val="4A6FA5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4229100" y="5029200"/>
                <a:ext cx="457200" cy="457200"/>
                <a:chOff x="4229100" y="5029200"/>
                <a:chExt cx="457200" cy="4572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343400" y="51435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114300" y="0"/>
                      </a:moveTo>
                      <a:cubicBezTo>
                        <a:pt x="51174" y="0"/>
                        <a:pt x="0" y="51174"/>
                        <a:pt x="0" y="114300"/>
                      </a:cubicBezTo>
                      <a:cubicBezTo>
                        <a:pt x="0" y="177425"/>
                        <a:pt x="51174" y="228600"/>
                        <a:pt x="114300" y="228600"/>
                      </a:cubicBezTo>
                      <a:cubicBezTo>
                        <a:pt x="177425" y="228600"/>
                        <a:pt x="228600" y="177425"/>
                        <a:pt x="228600" y="114300"/>
                      </a:cubicBezTo>
                      <a:cubicBezTo>
                        <a:pt x="228600" y="51174"/>
                        <a:pt x="177425" y="0"/>
                        <a:pt x="114300" y="0"/>
                      </a:cubicBezTo>
                      <a:close/>
                      <a:moveTo>
                        <a:pt x="57150" y="114300"/>
                      </a:moveTo>
                      <a:cubicBezTo>
                        <a:pt x="57150" y="82737"/>
                        <a:pt x="82737" y="57150"/>
                        <a:pt x="114300" y="57150"/>
                      </a:cubicBezTo>
                      <a:cubicBezTo>
                        <a:pt x="145863" y="57150"/>
                        <a:pt x="171450" y="82737"/>
                        <a:pt x="171450" y="114300"/>
                      </a:cubicBezTo>
                      <a:cubicBezTo>
                        <a:pt x="171450" y="145863"/>
                        <a:pt x="145863" y="171450"/>
                        <a:pt x="114300" y="171450"/>
                      </a:cubicBezTo>
                      <a:cubicBezTo>
                        <a:pt x="82737" y="171450"/>
                        <a:pt x="57150" y="145863"/>
                        <a:pt x="57150" y="114300"/>
                      </a:cubicBezTo>
                      <a:close/>
                    </a:path>
                  </a:pathLst>
                </a:custGeom>
                <a:solidFill>
                  <a:srgbClr val="4A6FA5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229100" y="50292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228600" y="0"/>
                      </a:moveTo>
                      <a:cubicBezTo>
                        <a:pt x="102348" y="0"/>
                        <a:pt x="0" y="102348"/>
                        <a:pt x="0" y="228600"/>
                      </a:cubicBezTo>
                      <a:cubicBezTo>
                        <a:pt x="0" y="354853"/>
                        <a:pt x="102348" y="457200"/>
                        <a:pt x="228600" y="457200"/>
                      </a:cubicBezTo>
                      <a:cubicBezTo>
                        <a:pt x="354853" y="457200"/>
                        <a:pt x="457200" y="354853"/>
                        <a:pt x="457200" y="228600"/>
                      </a:cubicBezTo>
                      <a:cubicBezTo>
                        <a:pt x="457200" y="102348"/>
                        <a:pt x="354853" y="0"/>
                        <a:pt x="228600" y="0"/>
                      </a:cubicBezTo>
                      <a:close/>
                      <a:moveTo>
                        <a:pt x="57150" y="228600"/>
                      </a:moveTo>
                      <a:cubicBezTo>
                        <a:pt x="57150" y="133911"/>
                        <a:pt x="133911" y="57150"/>
                        <a:pt x="228600" y="57150"/>
                      </a:cubicBezTo>
                      <a:cubicBezTo>
                        <a:pt x="323289" y="57150"/>
                        <a:pt x="400050" y="133911"/>
                        <a:pt x="400050" y="228600"/>
                      </a:cubicBezTo>
                      <a:cubicBezTo>
                        <a:pt x="400050" y="323289"/>
                        <a:pt x="323289" y="400050"/>
                        <a:pt x="228600" y="400050"/>
                      </a:cubicBezTo>
                      <a:cubicBezTo>
                        <a:pt x="133911" y="400050"/>
                        <a:pt x="57150" y="323289"/>
                        <a:pt x="57150" y="228600"/>
                      </a:cubicBezTo>
                      <a:close/>
                    </a:path>
                  </a:pathLst>
                </a:custGeom>
                <a:solidFill>
                  <a:srgbClr val="4A6FA5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4855845" y="5022532"/>
                <a:ext cx="406511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原生 Tool-Calling，无框架抽象债务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861560" y="5394960"/>
                <a:ext cx="79872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直接用 openai SDK 的 tool_calls，推理流可见可调试（ADR-001）；ToolSpec 统一契约为 MCP / GOAP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861560" y="5623560"/>
                <a:ext cx="483260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演进铺路，未来替换 transport 不动业务逻辑（ADR-003）。</a:t>
                </a:r>
              </a:p>
            </p:txBody>
          </p:sp>
        </p:grpSp>
      </p:grpSp>
      <p:sp>
        <p:nvSpPr>
          <p:cNvPr id="48" name="Line 48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22922" y="6578441"/>
            <a:ext cx="32802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ADR-001 / 002 / 003 / 004 · 来源：PRD §2、brainstorm §0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711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03 · 痛点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8219829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可观测性 QL 认知壁垒 × "多对一"人力灾难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61169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PRD §2 三大痛点：QL 学习曲线陡、组织挤兑少数 SRE、RCA 沉淀缺失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33400" y="1905000"/>
            <a:ext cx="5334000" cy="3619500"/>
            <a:chOff x="533400" y="1905000"/>
            <a:chExt cx="5334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33400" y="1905000"/>
              <a:ext cx="5334000" cy="3619500"/>
            </a:xfrm>
            <a:prstGeom prst="roundRect">
              <a:avLst>
                <a:gd name="adj" fmla="val 1579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2172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今天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39140" y="243459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开发的处境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62000" y="2933700"/>
              <a:ext cx="3710582" cy="697706"/>
              <a:chOff x="762000" y="2933700"/>
              <a:chExt cx="3710582" cy="697706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2933700"/>
                <a:ext cx="3429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C62828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90607" y="303276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78255" y="2959418"/>
                <a:ext cx="1400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QL 认知壁垒高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81112" y="3212306"/>
                <a:ext cx="303537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PromQL / LogQL / TraceQL 语法陡峭，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81112" y="3402806"/>
                <a:ext cx="31914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依赖 SRE 预设面板排查；深层问题无从下手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3829050"/>
              <a:ext cx="2560439" cy="697706"/>
              <a:chOff x="762000" y="3829050"/>
              <a:chExt cx="2560439" cy="697706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3829050"/>
                <a:ext cx="3429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C62828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67604" y="39281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8255" y="3854768"/>
                <a:ext cx="12971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"多对一"挤兑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81112" y="4107656"/>
                <a:ext cx="20413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全公司向极少数 SRE 求助，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81112" y="4298156"/>
                <a:ext cx="20084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SRE 疲于充当"查日志客服"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4724400"/>
              <a:ext cx="3004065" cy="697706"/>
              <a:chOff x="762000" y="4724400"/>
              <a:chExt cx="3004065" cy="697706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4724400"/>
                <a:ext cx="3429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C62828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67604" y="482346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78255" y="4750118"/>
                <a:ext cx="126609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RCA 沉淀缺失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81112" y="5003006"/>
                <a:ext cx="24849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跨系统排查靠肌肉记忆，事后 RCA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81112" y="5193506"/>
                <a:ext cx="19509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繁琐耗时，MTTR 居高不下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324600" y="1905000"/>
            <a:ext cx="5334000" cy="3619500"/>
            <a:chOff x="6324600" y="1905000"/>
            <a:chExt cx="5334000" cy="3619500"/>
          </a:xfrm>
        </p:grpSpPr>
        <p:sp>
          <p:nvSpPr>
            <p:cNvPr id="29" name="Rectangle 29"/>
            <p:cNvSpPr/>
            <p:nvPr/>
          </p:nvSpPr>
          <p:spPr>
            <a:xfrm>
              <a:off x="6324600" y="1905000"/>
              <a:ext cx="5334000" cy="3619500"/>
            </a:xfrm>
            <a:prstGeom prst="roundRect">
              <a:avLst>
                <a:gd name="adj" fmla="val 1579"/>
              </a:avLst>
            </a:prstGeom>
            <a:solidFill>
              <a:srgbClr val="FFFFFF"/>
            </a:solidFill>
            <a:ln w="13335">
              <a:solidFill>
                <a:srgbClr val="C6282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24600" y="1905000"/>
              <a:ext cx="5334000" cy="571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9865" y="21726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代价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30340" y="243459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组织承受的成本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553200" y="29718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294680"/>
                  </a:moveTo>
                  <a:lnTo>
                    <a:pt x="124420" y="419100"/>
                  </a:lnTo>
                  <a:lnTo>
                    <a:pt x="294680" y="419100"/>
                  </a:lnTo>
                  <a:lnTo>
                    <a:pt x="419100" y="294680"/>
                  </a:lnTo>
                  <a:lnTo>
                    <a:pt x="419100" y="124420"/>
                  </a:lnTo>
                  <a:lnTo>
                    <a:pt x="294680" y="0"/>
                  </a:lnTo>
                  <a:lnTo>
                    <a:pt x="124420" y="0"/>
                  </a:lnTo>
                  <a:lnTo>
                    <a:pt x="0" y="124420"/>
                  </a:lnTo>
                  <a:lnTo>
                    <a:pt x="0" y="294680"/>
                  </a:lnTo>
                  <a:close/>
                  <a:moveTo>
                    <a:pt x="183356" y="78581"/>
                  </a:moveTo>
                  <a:lnTo>
                    <a:pt x="183356" y="235744"/>
                  </a:lnTo>
                  <a:lnTo>
                    <a:pt x="235744" y="235744"/>
                  </a:lnTo>
                  <a:lnTo>
                    <a:pt x="235744" y="78581"/>
                  </a:lnTo>
                  <a:lnTo>
                    <a:pt x="183356" y="78581"/>
                  </a:lnTo>
                  <a:close/>
                  <a:moveTo>
                    <a:pt x="183356" y="288131"/>
                  </a:moveTo>
                  <a:lnTo>
                    <a:pt x="183356" y="340519"/>
                  </a:lnTo>
                  <a:lnTo>
                    <a:pt x="235744" y="340519"/>
                  </a:lnTo>
                  <a:lnTo>
                    <a:pt x="235744" y="288131"/>
                  </a:lnTo>
                  <a:lnTo>
                    <a:pt x="183356" y="28813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69869" y="3636169"/>
              <a:ext cx="3528394" cy="295275"/>
              <a:chOff x="6569869" y="3636169"/>
              <a:chExt cx="3528394" cy="295275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6569869" y="3636169"/>
                <a:ext cx="233363" cy="233362"/>
                <a:chOff x="6569869" y="3636169"/>
                <a:chExt cx="233363" cy="23336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569869" y="3636169"/>
                  <a:ext cx="233362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233362">
                      <a:moveTo>
                        <a:pt x="0" y="0"/>
                      </a:moveTo>
                      <a:lnTo>
                        <a:pt x="0" y="233362"/>
                      </a:lnTo>
                      <a:lnTo>
                        <a:pt x="233362" y="233362"/>
                      </a:lnTo>
                      <a:lnTo>
                        <a:pt x="233362" y="200025"/>
                      </a:lnTo>
                      <a:lnTo>
                        <a:pt x="33338" y="200025"/>
                      </a:lnTo>
                      <a:lnTo>
                        <a:pt x="3333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A6B7E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636544" y="3669506"/>
                  <a:ext cx="166688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33350">
                      <a:moveTo>
                        <a:pt x="0" y="66675"/>
                      </a:moveTo>
                      <a:lnTo>
                        <a:pt x="33338" y="33338"/>
                      </a:lnTo>
                      <a:lnTo>
                        <a:pt x="83344" y="83344"/>
                      </a:lnTo>
                      <a:lnTo>
                        <a:pt x="166688" y="0"/>
                      </a:lnTo>
                      <a:lnTo>
                        <a:pt x="166688" y="133350"/>
                      </a:lnTo>
                      <a:lnTo>
                        <a:pt x="0" y="133350"/>
                      </a:lnTo>
                      <a:lnTo>
                        <a:pt x="0" y="66675"/>
                      </a:lnTo>
                      <a:close/>
                    </a:path>
                  </a:pathLst>
                </a:custGeom>
                <a:solidFill>
                  <a:srgbClr val="5A6B7E"/>
                </a:solidFill>
                <a:ln>
                  <a:noFill/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6956108" y="3672364"/>
                <a:ext cx="31421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MTTR 居高不下，故障影响时长被放大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53200" y="4055269"/>
              <a:ext cx="3563684" cy="295275"/>
              <a:chOff x="6553200" y="4055269"/>
              <a:chExt cx="3563684" cy="295275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6553200" y="4055269"/>
                <a:ext cx="266700" cy="233362"/>
                <a:chOff x="6553200" y="4055269"/>
                <a:chExt cx="266700" cy="233362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603206" y="4055269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83344" y="41672"/>
                      </a:moveTo>
                      <a:cubicBezTo>
                        <a:pt x="83344" y="64687"/>
                        <a:pt x="64687" y="83344"/>
                        <a:pt x="41672" y="83344"/>
                      </a:cubicBez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cubicBezTo>
                        <a:pt x="64687" y="0"/>
                        <a:pt x="83344" y="18657"/>
                        <a:pt x="83344" y="41672"/>
                      </a:cubicBezTo>
                      <a:close/>
                    </a:path>
                  </a:pathLst>
                </a:custGeom>
                <a:solidFill>
                  <a:srgbClr val="5A6B7E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553200" y="4171950"/>
                  <a:ext cx="13335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6681">
                      <a:moveTo>
                        <a:pt x="50006" y="0"/>
                      </a:moveTo>
                      <a:cubicBezTo>
                        <a:pt x="22389" y="0"/>
                        <a:pt x="0" y="22389"/>
                        <a:pt x="0" y="50006"/>
                      </a:cubicBezTo>
                      <a:lnTo>
                        <a:pt x="0" y="116681"/>
                      </a:lnTo>
                      <a:lnTo>
                        <a:pt x="133350" y="116681"/>
                      </a:lnTo>
                      <a:lnTo>
                        <a:pt x="133350" y="0"/>
                      </a:lnTo>
                      <a:lnTo>
                        <a:pt x="50006" y="0"/>
                      </a:lnTo>
                      <a:close/>
                    </a:path>
                  </a:pathLst>
                </a:custGeom>
                <a:solidFill>
                  <a:srgbClr val="5A6B7E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719888" y="4171950"/>
                  <a:ext cx="10001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16681">
                      <a:moveTo>
                        <a:pt x="50006" y="0"/>
                      </a:moveTo>
                      <a:lnTo>
                        <a:pt x="0" y="0"/>
                      </a:lnTo>
                      <a:lnTo>
                        <a:pt x="0" y="116681"/>
                      </a:lnTo>
                      <a:lnTo>
                        <a:pt x="100012" y="116681"/>
                      </a:lnTo>
                      <a:lnTo>
                        <a:pt x="100012" y="50006"/>
                      </a:lnTo>
                      <a:cubicBezTo>
                        <a:pt x="100012" y="22389"/>
                        <a:pt x="77625" y="0"/>
                        <a:pt x="50006" y="0"/>
                      </a:cubicBezTo>
                      <a:close/>
                    </a:path>
                  </a:pathLst>
                </a:custGeom>
                <a:solidFill>
                  <a:srgbClr val="5A6B7E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19888" y="40719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33338" y="66675"/>
                      </a:moveTo>
                      <a:cubicBezTo>
                        <a:pt x="51750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50" y="0"/>
                        <a:pt x="33338" y="0"/>
                      </a:cubicBezTo>
                      <a:cubicBezTo>
                        <a:pt x="14925" y="0"/>
                        <a:pt x="0" y="14926"/>
                        <a:pt x="0" y="33338"/>
                      </a:cubicBezTo>
                      <a:cubicBezTo>
                        <a:pt x="0" y="51749"/>
                        <a:pt x="14925" y="66675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5A6B7E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6956108" y="4091464"/>
                <a:ext cx="316077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SRE 长期过载，On-call 团队流失加剧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553200" y="4457700"/>
              <a:ext cx="3787140" cy="311944"/>
              <a:chOff x="6553200" y="4457700"/>
              <a:chExt cx="3787140" cy="31194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553200" y="44577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116681" y="50006"/>
                    </a:moveTo>
                    <a:lnTo>
                      <a:pt x="116681" y="140254"/>
                    </a:lnTo>
                    <a:lnTo>
                      <a:pt x="171570" y="195143"/>
                    </a:lnTo>
                    <a:lnTo>
                      <a:pt x="195143" y="171570"/>
                    </a:lnTo>
                    <a:lnTo>
                      <a:pt x="150019" y="126446"/>
                    </a:lnTo>
                    <a:lnTo>
                      <a:pt x="150019" y="50006"/>
                    </a:lnTo>
                    <a:lnTo>
                      <a:pt x="116681" y="50006"/>
                    </a:lnTo>
                    <a:close/>
                  </a:path>
                </a:pathLst>
              </a:custGeom>
              <a:solidFill>
                <a:srgbClr val="5A6B7E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956108" y="4510564"/>
                <a:ext cx="33842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故障复盘缺乏统一证据链，组织无法学习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586538" y="4876800"/>
              <a:ext cx="4498657" cy="311944"/>
              <a:chOff x="6586538" y="4876800"/>
              <a:chExt cx="4498657" cy="31194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586538" y="4876800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33338" y="100012"/>
                    </a:moveTo>
                    <a:lnTo>
                      <a:pt x="33338" y="66675"/>
                    </a:lnTo>
                    <a:cubicBezTo>
                      <a:pt x="33338" y="29851"/>
                      <a:pt x="63189" y="0"/>
                      <a:pt x="100012" y="0"/>
                    </a:cubicBezTo>
                    <a:cubicBezTo>
                      <a:pt x="136835" y="0"/>
                      <a:pt x="166688" y="29851"/>
                      <a:pt x="166688" y="66675"/>
                    </a:cubicBezTo>
                    <a:lnTo>
                      <a:pt x="166688" y="100012"/>
                    </a:lnTo>
                    <a:lnTo>
                      <a:pt x="200025" y="100012"/>
                    </a:lnTo>
                    <a:lnTo>
                      <a:pt x="200025" y="266700"/>
                    </a:lnTo>
                    <a:lnTo>
                      <a:pt x="0" y="266700"/>
                    </a:lnTo>
                    <a:lnTo>
                      <a:pt x="0" y="100012"/>
                    </a:lnTo>
                    <a:lnTo>
                      <a:pt x="33338" y="100012"/>
                    </a:lnTo>
                    <a:close/>
                    <a:moveTo>
                      <a:pt x="66675" y="66675"/>
                    </a:moveTo>
                    <a:cubicBezTo>
                      <a:pt x="66675" y="48263"/>
                      <a:pt x="81601" y="33338"/>
                      <a:pt x="100012" y="33338"/>
                    </a:cubicBezTo>
                    <a:cubicBezTo>
                      <a:pt x="118424" y="33338"/>
                      <a:pt x="133350" y="48263"/>
                      <a:pt x="133350" y="66675"/>
                    </a:cubicBezTo>
                    <a:lnTo>
                      <a:pt x="133350" y="100012"/>
                    </a:lnTo>
                    <a:lnTo>
                      <a:pt x="66675" y="100012"/>
                    </a:lnTo>
                    <a:lnTo>
                      <a:pt x="66675" y="66675"/>
                    </a:lnTo>
                    <a:close/>
                    <a:moveTo>
                      <a:pt x="83344" y="216694"/>
                    </a:moveTo>
                    <a:lnTo>
                      <a:pt x="83344" y="150019"/>
                    </a:lnTo>
                    <a:lnTo>
                      <a:pt x="116681" y="150019"/>
                    </a:lnTo>
                    <a:lnTo>
                      <a:pt x="116681" y="216694"/>
                    </a:lnTo>
                    <a:lnTo>
                      <a:pt x="83344" y="216694"/>
                    </a:lnTo>
                    <a:close/>
                  </a:path>
                </a:pathLst>
              </a:custGeom>
              <a:solidFill>
                <a:srgbClr val="5A6B7E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956108" y="4929664"/>
                <a:ext cx="412908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处置类能力被锁死：信任未建立，无人敢开写权限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10714"/>
              </a:avLst>
            </a:prstGeom>
            <a:solidFill>
              <a:srgbClr val="F4F6F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2012" y="603170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本项目主张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965008" y="60155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自然语言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88945" y="59750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A6A6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374708" y="6015514"/>
              <a:ext cx="7362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自动 QL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98645" y="59750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A6A6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84408" y="60155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多步证据链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89345" y="59750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A6A6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75108" y="6015514"/>
              <a:ext cx="10002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结构化 RCA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82012" y="6031706"/>
              <a:ext cx="3002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· 一次排查产生的 RCA 同时是组织级资产</a:t>
              </a:r>
            </a:p>
          </p:txBody>
        </p:sp>
      </p:grpSp>
      <p:sp>
        <p:nvSpPr>
          <p:cNvPr id="64" name="Line 64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522922" y="6578441"/>
            <a:ext cx="23283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PRD §2 / brainstorm §0 · 来源：项目 PRD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2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85775" y="457200"/>
            <a:ext cx="7778115" cy="2428875"/>
            <a:chOff x="485775" y="457200"/>
            <a:chExt cx="7778115" cy="2428875"/>
          </a:xfrm>
        </p:grpSpPr>
        <p:sp>
          <p:nvSpPr>
            <p:cNvPr id="3" name="Rectangle 3"/>
            <p:cNvSpPr/>
            <p:nvPr/>
          </p:nvSpPr>
          <p:spPr>
            <a:xfrm>
              <a:off x="533400" y="457200"/>
              <a:ext cx="57150" cy="3048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1515" y="572452"/>
              <a:ext cx="1033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04 · 价值主张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85775" y="1309688"/>
              <a:ext cx="475333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让开发用"大白话"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5775" y="1881188"/>
              <a:ext cx="469582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调动所有观测后端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4350" y="2581275"/>
              <a:ext cx="77495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不是替代 SRE，而是让一线开发具备独立闭环能力，把 SRE 拉回真正的平台工程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3028950"/>
            <a:ext cx="11125200" cy="38100"/>
            <a:chOff x="533400" y="3028950"/>
            <a:chExt cx="11125200" cy="38100"/>
          </a:xfrm>
        </p:grpSpPr>
        <p:sp>
          <p:nvSpPr>
            <p:cNvPr id="9" name="Line 9"/>
            <p:cNvSpPr/>
            <p:nvPr/>
          </p:nvSpPr>
          <p:spPr>
            <a:xfrm>
              <a:off x="533400" y="3048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3028950"/>
              <a:ext cx="2667000" cy="381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33400" y="3429000"/>
            <a:ext cx="11125200" cy="2095500"/>
            <a:chOff x="533400" y="3429000"/>
            <a:chExt cx="11125200" cy="2095500"/>
          </a:xfrm>
        </p:grpSpPr>
        <p:grpSp>
          <p:nvGrpSpPr>
            <p:cNvPr id="20" name="Group 20"/>
            <p:cNvGrpSpPr/>
            <p:nvPr/>
          </p:nvGrpSpPr>
          <p:grpSpPr>
            <a:xfrm>
              <a:off x="533400" y="3429000"/>
              <a:ext cx="3747849" cy="2095500"/>
              <a:chOff x="533400" y="3429000"/>
              <a:chExt cx="3747849" cy="2095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3429000"/>
                <a:ext cx="3619500" cy="2095500"/>
              </a:xfrm>
              <a:prstGeom prst="roundRect">
                <a:avLst>
                  <a:gd name="adj" fmla="val 2727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33400" y="3429000"/>
                <a:ext cx="57150" cy="2095500"/>
              </a:xfrm>
              <a:prstGeom prst="rect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2488" y="3695700"/>
                <a:ext cx="3143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419100">
                    <a:moveTo>
                      <a:pt x="183356" y="183356"/>
                    </a:moveTo>
                    <a:lnTo>
                      <a:pt x="209550" y="0"/>
                    </a:lnTo>
                    <a:lnTo>
                      <a:pt x="157162" y="0"/>
                    </a:lnTo>
                    <a:lnTo>
                      <a:pt x="0" y="183356"/>
                    </a:lnTo>
                    <a:lnTo>
                      <a:pt x="0" y="235744"/>
                    </a:lnTo>
                    <a:lnTo>
                      <a:pt x="130969" y="235744"/>
                    </a:lnTo>
                    <a:lnTo>
                      <a:pt x="104775" y="419100"/>
                    </a:lnTo>
                    <a:lnTo>
                      <a:pt x="157162" y="419100"/>
                    </a:lnTo>
                    <a:lnTo>
                      <a:pt x="314325" y="235744"/>
                    </a:lnTo>
                    <a:lnTo>
                      <a:pt x="314325" y="183356"/>
                    </a:lnTo>
                    <a:lnTo>
                      <a:pt x="183356" y="183356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386840" y="3710940"/>
                <a:ext cx="11498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独立闭环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3908" y="4243864"/>
                <a:ext cx="189452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自己的服务故障自己查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5812" y="4622006"/>
                <a:ext cx="34954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一线开发无需学习 PromQL/LogQL/TraceQL，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5812" y="4831556"/>
                <a:ext cx="23206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用大白话申告即可拿到一份 RCA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87718" y="5133499"/>
                <a:ext cx="16196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解放 SRE 的"客服"角色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286250" y="3429000"/>
              <a:ext cx="3619500" cy="2095500"/>
              <a:chOff x="4286250" y="3429000"/>
              <a:chExt cx="3619500" cy="2095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286250" y="3429000"/>
                <a:ext cx="3619500" cy="2095500"/>
              </a:xfrm>
              <a:prstGeom prst="roundRect">
                <a:avLst>
                  <a:gd name="adj" fmla="val 2727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286250" y="3429000"/>
                <a:ext cx="57150" cy="2095500"/>
              </a:xfrm>
              <a:prstGeom prst="rect">
                <a:avLst/>
              </a:prstGeom>
              <a:solidFill>
                <a:srgbClr val="0F2A44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605338" y="3695700"/>
                <a:ext cx="314325" cy="419100"/>
                <a:chOff x="4605338" y="3695700"/>
                <a:chExt cx="314325" cy="4191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605338" y="3863340"/>
                  <a:ext cx="314325" cy="120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120491">
                      <a:moveTo>
                        <a:pt x="291722" y="13363"/>
                      </a:moveTo>
                      <a:cubicBezTo>
                        <a:pt x="299091" y="9678"/>
                        <a:pt x="306789" y="5234"/>
                        <a:pt x="314325" y="0"/>
                      </a:cubicBezTo>
                      <a:lnTo>
                        <a:pt x="314325" y="41910"/>
                      </a:lnTo>
                      <a:cubicBezTo>
                        <a:pt x="314325" y="85309"/>
                        <a:pt x="243961" y="120491"/>
                        <a:pt x="157162" y="120491"/>
                      </a:cubicBezTo>
                      <a:cubicBezTo>
                        <a:pt x="70364" y="120491"/>
                        <a:pt x="0" y="85309"/>
                        <a:pt x="0" y="41910"/>
                      </a:cubicBezTo>
                      <a:lnTo>
                        <a:pt x="0" y="0"/>
                      </a:lnTo>
                      <a:cubicBezTo>
                        <a:pt x="7536" y="5234"/>
                        <a:pt x="15234" y="9678"/>
                        <a:pt x="22603" y="13363"/>
                      </a:cubicBezTo>
                      <a:cubicBezTo>
                        <a:pt x="59747" y="31935"/>
                        <a:pt x="107394" y="41910"/>
                        <a:pt x="157162" y="41910"/>
                      </a:cubicBezTo>
                      <a:cubicBezTo>
                        <a:pt x="206931" y="41910"/>
                        <a:pt x="254577" y="31935"/>
                        <a:pt x="291722" y="13363"/>
                      </a:cubicBezTo>
                      <a:close/>
                    </a:path>
                  </a:pathLst>
                </a:custGeom>
                <a:solidFill>
                  <a:srgbClr val="0F2A44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605338" y="3994309"/>
                  <a:ext cx="314325" cy="120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120491">
                      <a:moveTo>
                        <a:pt x="0" y="0"/>
                      </a:moveTo>
                      <a:lnTo>
                        <a:pt x="0" y="41910"/>
                      </a:lnTo>
                      <a:cubicBezTo>
                        <a:pt x="0" y="85310"/>
                        <a:pt x="70364" y="120491"/>
                        <a:pt x="157162" y="120491"/>
                      </a:cubicBezTo>
                      <a:cubicBezTo>
                        <a:pt x="243961" y="120491"/>
                        <a:pt x="314325" y="85310"/>
                        <a:pt x="314325" y="41910"/>
                      </a:cubicBezTo>
                      <a:lnTo>
                        <a:pt x="314325" y="0"/>
                      </a:lnTo>
                      <a:cubicBezTo>
                        <a:pt x="306789" y="5234"/>
                        <a:pt x="299091" y="9679"/>
                        <a:pt x="291722" y="13364"/>
                      </a:cubicBezTo>
                      <a:cubicBezTo>
                        <a:pt x="254577" y="31935"/>
                        <a:pt x="206931" y="41910"/>
                        <a:pt x="157162" y="41910"/>
                      </a:cubicBezTo>
                      <a:cubicBezTo>
                        <a:pt x="107394" y="41910"/>
                        <a:pt x="59747" y="31935"/>
                        <a:pt x="22603" y="13364"/>
                      </a:cubicBezTo>
                      <a:cubicBezTo>
                        <a:pt x="15234" y="9679"/>
                        <a:pt x="7536" y="5234"/>
                        <a:pt x="0" y="0"/>
                      </a:cubicBezTo>
                      <a:close/>
                    </a:path>
                  </a:pathLst>
                </a:custGeom>
                <a:solidFill>
                  <a:srgbClr val="0F2A44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605338" y="3695700"/>
                  <a:ext cx="3143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157162">
                      <a:moveTo>
                        <a:pt x="157162" y="0"/>
                      </a:moveTo>
                      <a:cubicBezTo>
                        <a:pt x="243961" y="0"/>
                        <a:pt x="314325" y="35182"/>
                        <a:pt x="314325" y="78581"/>
                      </a:cubicBezTo>
                      <a:cubicBezTo>
                        <a:pt x="314325" y="121980"/>
                        <a:pt x="243961" y="157162"/>
                        <a:pt x="157162" y="157162"/>
                      </a:cubicBezTo>
                      <a:cubicBezTo>
                        <a:pt x="70364" y="157162"/>
                        <a:pt x="0" y="121980"/>
                        <a:pt x="0" y="78581"/>
                      </a:cubicBezTo>
                      <a:cubicBezTo>
                        <a:pt x="0" y="35182"/>
                        <a:pt x="70364" y="0"/>
                        <a:pt x="157162" y="0"/>
                      </a:cubicBezTo>
                      <a:close/>
                    </a:path>
                  </a:pathLst>
                </a:custGeom>
                <a:solidFill>
                  <a:srgbClr val="0F2A44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139690" y="3710940"/>
                <a:ext cx="170192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沉淀组织资产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36758" y="4243864"/>
                <a:ext cx="194107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每次 RCA 都进入知识库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38662" y="4622006"/>
                <a:ext cx="20413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少数 SRE 的肌肉记忆转化为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38662" y="4831556"/>
                <a:ext cx="27314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全员可调用的故障图谱（脑暴 PM-1）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40568" y="5133499"/>
                <a:ext cx="15697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数据飞轮，越用越聪明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039100" y="3429000"/>
              <a:ext cx="3619500" cy="2095500"/>
              <a:chOff x="8039100" y="3429000"/>
              <a:chExt cx="3619500" cy="2095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039100" y="3429000"/>
                <a:ext cx="3619500" cy="2095500"/>
              </a:xfrm>
              <a:prstGeom prst="roundRect">
                <a:avLst>
                  <a:gd name="adj" fmla="val 2727"/>
                </a:avLst>
              </a:prstGeom>
              <a:solidFill>
                <a:srgbClr val="F4F6FA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8039100" y="3429000"/>
                <a:ext cx="57150" cy="2095500"/>
              </a:xfrm>
              <a:prstGeom prst="rect">
                <a:avLst/>
              </a:prstGeom>
              <a:solidFill>
                <a:srgbClr val="4A6FA5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8305800" y="3721894"/>
                <a:ext cx="419100" cy="366712"/>
                <a:chOff x="8305800" y="3721894"/>
                <a:chExt cx="419100" cy="36671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8384381" y="3721894"/>
                  <a:ext cx="130969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30969">
                      <a:moveTo>
                        <a:pt x="130969" y="65484"/>
                      </a:moveTo>
                      <a:cubicBezTo>
                        <a:pt x="130969" y="101650"/>
                        <a:pt x="101650" y="130969"/>
                        <a:pt x="65484" y="130969"/>
                      </a:cubicBezTo>
                      <a:cubicBezTo>
                        <a:pt x="29318" y="130969"/>
                        <a:pt x="0" y="101650"/>
                        <a:pt x="0" y="65484"/>
                      </a:cubicBezTo>
                      <a:cubicBezTo>
                        <a:pt x="0" y="29318"/>
                        <a:pt x="29318" y="0"/>
                        <a:pt x="65484" y="0"/>
                      </a:cubicBezTo>
                      <a:cubicBezTo>
                        <a:pt x="101650" y="0"/>
                        <a:pt x="130969" y="29318"/>
                        <a:pt x="130969" y="65484"/>
                      </a:cubicBezTo>
                      <a:close/>
                    </a:path>
                  </a:pathLst>
                </a:custGeom>
                <a:solidFill>
                  <a:srgbClr val="4A6FA5"/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305800" y="3905250"/>
                  <a:ext cx="209550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83356">
                      <a:moveTo>
                        <a:pt x="78581" y="0"/>
                      </a:moveTo>
                      <a:cubicBezTo>
                        <a:pt x="35182" y="0"/>
                        <a:pt x="0" y="35182"/>
                        <a:pt x="0" y="78581"/>
                      </a:cubicBezTo>
                      <a:lnTo>
                        <a:pt x="0" y="183356"/>
                      </a:lnTo>
                      <a:lnTo>
                        <a:pt x="209550" y="183356"/>
                      </a:lnTo>
                      <a:lnTo>
                        <a:pt x="209550" y="0"/>
                      </a:lnTo>
                      <a:lnTo>
                        <a:pt x="78581" y="0"/>
                      </a:lnTo>
                      <a:close/>
                    </a:path>
                  </a:pathLst>
                </a:custGeom>
                <a:solidFill>
                  <a:srgbClr val="4A6FA5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567738" y="3905250"/>
                  <a:ext cx="157162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83356">
                      <a:moveTo>
                        <a:pt x="78581" y="0"/>
                      </a:moveTo>
                      <a:lnTo>
                        <a:pt x="0" y="0"/>
                      </a:lnTo>
                      <a:lnTo>
                        <a:pt x="0" y="183356"/>
                      </a:lnTo>
                      <a:lnTo>
                        <a:pt x="157162" y="183356"/>
                      </a:lnTo>
                      <a:lnTo>
                        <a:pt x="157162" y="78581"/>
                      </a:lnTo>
                      <a:cubicBezTo>
                        <a:pt x="157162" y="35182"/>
                        <a:pt x="121982" y="0"/>
                        <a:pt x="78581" y="0"/>
                      </a:cubicBezTo>
                      <a:close/>
                    </a:path>
                  </a:pathLst>
                </a:custGeom>
                <a:solidFill>
                  <a:srgbClr val="4A6FA5"/>
                </a:soli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567738" y="374808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52388" y="104775"/>
                      </a:moveTo>
                      <a:cubicBezTo>
                        <a:pt x="81321" y="104775"/>
                        <a:pt x="104775" y="81320"/>
                        <a:pt x="104775" y="52388"/>
                      </a:cubicBezTo>
                      <a:cubicBezTo>
                        <a:pt x="104775" y="23455"/>
                        <a:pt x="81321" y="0"/>
                        <a:pt x="52388" y="0"/>
                      </a:cubicBezTo>
                      <a:cubicBezTo>
                        <a:pt x="23454" y="0"/>
                        <a:pt x="0" y="23455"/>
                        <a:pt x="0" y="52388"/>
                      </a:cubicBezTo>
                      <a:cubicBezTo>
                        <a:pt x="0" y="81320"/>
                        <a:pt x="23454" y="104775"/>
                        <a:pt x="52388" y="104775"/>
                      </a:cubicBezTo>
                      <a:close/>
                    </a:path>
                  </a:pathLst>
                </a:custGeom>
                <a:solidFill>
                  <a:srgbClr val="4A6FA5"/>
                </a:solidFill>
                <a:ln>
                  <a:noFill/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8892540" y="3710940"/>
                <a:ext cx="113605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解放 SRE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89608" y="4243864"/>
                <a:ext cx="22948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从查日志客服 → 平台工程师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91512" y="4622006"/>
                <a:ext cx="23452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SRE 团队回归 SLO / 容量规划 /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91512" y="4831556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可观测性平台本身的高阶工作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93418" y="5133499"/>
                <a:ext cx="21393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让人效回到组织最有杠杆的地方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10714"/>
              </a:avLst>
            </a:prstGeom>
            <a:solidFill>
              <a:srgbClr val="0F2A44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81050" y="59436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203008" y="601551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边界声明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94560" y="60236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8C0DA"/>
                  </a:solidFill>
                  <a:latin typeface="Arial"/>
                  <a:ea typeface="Microsoft YaHei"/>
                  <a:cs typeface="Arial"/>
                </a:rPr>
                <a:t>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23160" y="6023610"/>
              <a:ext cx="59367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只读排查，绝不修改线上状态（ADR-002）· 信任未建立前，不开任何写权限</a:t>
              </a:r>
            </a:p>
          </p:txBody>
        </p:sp>
      </p:grpSp>
      <p:sp>
        <p:nvSpPr>
          <p:cNvPr id="53" name="Line 53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22922" y="6578441"/>
            <a:ext cx="24187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PRD §2 · brainstorm PM-1 / D-5 · ADR-002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6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1033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05 · 架构总览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6602726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三层解耦 + 原生 Tool-Calling 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91138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Frontend（Next.js）· Backend（FastAPI + 原生 Tool-Calling）· 观测后端（Mimir / Loki / Tempo）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52500" y="1905000"/>
            <a:ext cx="10287000" cy="952500"/>
            <a:chOff x="952500" y="1905000"/>
            <a:chExt cx="10287000" cy="952500"/>
          </a:xfrm>
        </p:grpSpPr>
        <p:sp>
          <p:nvSpPr>
            <p:cNvPr id="7" name="Rectangle 7"/>
            <p:cNvSpPr/>
            <p:nvPr/>
          </p:nvSpPr>
          <p:spPr>
            <a:xfrm>
              <a:off x="952500" y="1905000"/>
              <a:ext cx="10287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 w="13335">
              <a:solidFill>
                <a:srgbClr val="4A6FA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905000"/>
              <a:ext cx="57150" cy="952500"/>
            </a:xfrm>
            <a:prstGeom prst="rect">
              <a:avLst/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7765" y="20964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A6FA5"/>
                  </a:solidFill>
                  <a:latin typeface="Arial"/>
                  <a:ea typeface="Microsoft YaHei"/>
                  <a:cs typeface="Arial"/>
                </a:rPr>
                <a:t>LAYER 1 · FRONTEND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62050" y="2333625"/>
              <a:ext cx="40866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Next.js · Tailwind · React Markdown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67765" y="2629852"/>
              <a:ext cx="57390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Chat Input → Execution Timeline → RCA Report View · 支持 SSE 流式与可下钻证据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143500" y="2171700"/>
              <a:ext cx="1428750" cy="533400"/>
              <a:chOff x="5143500" y="2171700"/>
              <a:chExt cx="1428750" cy="533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143500" y="2171700"/>
                <a:ext cx="142875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4A6FA5">
                    <a:alpha val="40000"/>
                  </a:srgbClr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461159" y="2363152"/>
                <a:ext cx="7934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Chat Input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762750" y="2171700"/>
              <a:ext cx="1428750" cy="533400"/>
              <a:chOff x="6762750" y="2171700"/>
              <a:chExt cx="1428750" cy="533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762750" y="2171700"/>
                <a:ext cx="142875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4A6FA5">
                    <a:alpha val="40000"/>
                  </a:srgbClr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168586" y="2363152"/>
                <a:ext cx="6170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Timeline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382000" y="2171700"/>
              <a:ext cx="2286000" cy="533400"/>
              <a:chOff x="8382000" y="2171700"/>
              <a:chExt cx="2286000" cy="533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8382000" y="2171700"/>
                <a:ext cx="2286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4A6FA5">
                    <a:alpha val="40000"/>
                  </a:srgbClr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921258" y="2363152"/>
                <a:ext cx="12074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RCA Report View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6038850" y="2857500"/>
            <a:ext cx="1390650" cy="304800"/>
            <a:chOff x="6038850" y="2857500"/>
            <a:chExt cx="1390650" cy="304800"/>
          </a:xfrm>
        </p:grpSpPr>
        <p:sp>
          <p:nvSpPr>
            <p:cNvPr id="22" name="Line 22"/>
            <p:cNvSpPr/>
            <p:nvPr/>
          </p:nvSpPr>
          <p:spPr>
            <a:xfrm>
              <a:off x="6096000" y="28575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038850" y="3067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2A4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2914650"/>
              <a:ext cx="11430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0507" y="2969895"/>
              <a:ext cx="10349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HTTP POST / SSE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2500" y="3200400"/>
            <a:ext cx="10287000" cy="1524000"/>
            <a:chOff x="952500" y="3200400"/>
            <a:chExt cx="10287000" cy="1524000"/>
          </a:xfrm>
        </p:grpSpPr>
        <p:sp>
          <p:nvSpPr>
            <p:cNvPr id="27" name="Rectangle 27"/>
            <p:cNvSpPr/>
            <p:nvPr/>
          </p:nvSpPr>
          <p:spPr>
            <a:xfrm>
              <a:off x="952500" y="3200400"/>
              <a:ext cx="10287000" cy="1524000"/>
            </a:xfrm>
            <a:prstGeom prst="roundRect">
              <a:avLst>
                <a:gd name="adj" fmla="val 5000"/>
              </a:avLst>
            </a:prstGeom>
            <a:solidFill>
              <a:srgbClr val="0F2A44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2500" y="3200400"/>
              <a:ext cx="57150" cy="15240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67765" y="3391852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LAYER 2 · BACKEND (核心)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62050" y="3629025"/>
              <a:ext cx="47191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FastAPI · Pydantic v2 · HTTPX · openai SDK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67765" y="3925252"/>
              <a:ext cx="35001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8C0DA"/>
                  </a:solidFill>
                  <a:latin typeface="Arial"/>
                  <a:ea typeface="Microsoft YaHei"/>
                  <a:cs typeface="Arial"/>
                </a:rPr>
                <a:t>原生 Tool-Calling 循环 · 无 LangChain 等框架抽象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1181100" y="4267200"/>
              <a:ext cx="2286000" cy="342900"/>
              <a:chOff x="1181100" y="4267200"/>
              <a:chExt cx="2286000" cy="3429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1181100" y="4267200"/>
                <a:ext cx="2286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>
                  <a:alpha val="8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701189" y="4372928"/>
                <a:ext cx="1245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Session Manager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657600" y="4267200"/>
              <a:ext cx="2476500" cy="342900"/>
              <a:chOff x="3657600" y="4267200"/>
              <a:chExt cx="2476500" cy="3429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657600" y="4267200"/>
                <a:ext cx="24765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0A6A6">
                  <a:alpha val="16000"/>
                </a:srgbClr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61950" y="4372928"/>
                <a:ext cx="14678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Tool-Calling Loop ★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324600" y="4267200"/>
              <a:ext cx="2286000" cy="342900"/>
              <a:chOff x="6324600" y="4267200"/>
              <a:chExt cx="2286000" cy="3429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324600" y="4267200"/>
                <a:ext cx="2286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>
                  <a:alpha val="8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925199" y="4372928"/>
                <a:ext cx="10848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RCA Generator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801100" y="4267200"/>
              <a:ext cx="2286000" cy="342900"/>
              <a:chOff x="8801100" y="4267200"/>
              <a:chExt cx="2286000" cy="342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801100" y="4267200"/>
                <a:ext cx="228600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FFFFFF">
                  <a:alpha val="8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210008" y="4372928"/>
                <a:ext cx="14681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SafeToolExecutor ★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38850" y="4724400"/>
            <a:ext cx="1717786" cy="304800"/>
            <a:chOff x="6038850" y="4724400"/>
            <a:chExt cx="1717786" cy="304800"/>
          </a:xfrm>
        </p:grpSpPr>
        <p:sp>
          <p:nvSpPr>
            <p:cNvPr id="45" name="Line 45"/>
            <p:cNvSpPr/>
            <p:nvPr/>
          </p:nvSpPr>
          <p:spPr>
            <a:xfrm>
              <a:off x="6096000" y="47244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6038850" y="4933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2A44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86500" y="4781550"/>
              <a:ext cx="1333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49864" y="4836795"/>
              <a:ext cx="16067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HTTPX async · 带 timeout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2500" y="5067300"/>
            <a:ext cx="10287000" cy="952500"/>
            <a:chOff x="952500" y="5067300"/>
            <a:chExt cx="10287000" cy="952500"/>
          </a:xfrm>
        </p:grpSpPr>
        <p:sp>
          <p:nvSpPr>
            <p:cNvPr id="50" name="Rectangle 50"/>
            <p:cNvSpPr/>
            <p:nvPr/>
          </p:nvSpPr>
          <p:spPr>
            <a:xfrm>
              <a:off x="952500" y="5067300"/>
              <a:ext cx="10287000" cy="952500"/>
            </a:xfrm>
            <a:prstGeom prst="roundRect">
              <a:avLst>
                <a:gd name="adj" fmla="val 8000"/>
              </a:avLst>
            </a:prstGeom>
            <a:solidFill>
              <a:srgbClr val="F4F6FA"/>
            </a:solidFill>
            <a:ln w="13335">
              <a:solidFill>
                <a:srgbClr val="00A6A6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52500" y="5067300"/>
              <a:ext cx="57150" cy="9525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67765" y="5258752"/>
              <a:ext cx="25063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LAYER 3 · NATIVE AGENT TOOLSET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62050" y="5495925"/>
              <a:ext cx="36265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ToolSpec 统一契约 + 可插拔注册表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68718" y="5781199"/>
              <a:ext cx="5514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所有 Tool 走 SafeToolExecutor 四层包装；schema 与 MCP server 对齐，为演进铺路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143500" y="5314950"/>
              <a:ext cx="1143000" cy="533400"/>
              <a:chOff x="5143500" y="5314950"/>
              <a:chExt cx="1143000" cy="5334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143500" y="5314950"/>
                <a:ext cx="1143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00A6A6">
                    <a:alpha val="40000"/>
                  </a:srgbClr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5472121" y="5498306"/>
                <a:ext cx="4857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Mimir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330309" y="5691188"/>
                <a:ext cx="76938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指标 · PromQL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477000" y="5314950"/>
              <a:ext cx="1143000" cy="533400"/>
              <a:chOff x="6477000" y="5314950"/>
              <a:chExt cx="1143000" cy="5334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477000" y="5314950"/>
                <a:ext cx="1143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00A6A6">
                    <a:alpha val="40000"/>
                  </a:srgbClr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866004" y="5498306"/>
                <a:ext cx="3649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Loki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704886" y="5691188"/>
                <a:ext cx="68722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日志 · LogQL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810500" y="5314950"/>
              <a:ext cx="1143000" cy="533400"/>
              <a:chOff x="7810500" y="5314950"/>
              <a:chExt cx="1143000" cy="5334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810500" y="5314950"/>
                <a:ext cx="1143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00A6A6">
                    <a:alpha val="40000"/>
                  </a:srgbClr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113243" y="5498306"/>
                <a:ext cx="5375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Tempo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78140" y="5691188"/>
                <a:ext cx="80772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链路 · TraceQL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9003220" y="5314950"/>
              <a:ext cx="1805559" cy="533400"/>
              <a:chOff x="9003220" y="5314950"/>
              <a:chExt cx="1805559" cy="5334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144000" y="5314950"/>
                <a:ext cx="1524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FFFFF">
                  <a:alpha val="40000"/>
                </a:srgbClr>
              </a:solidFill>
              <a:ln w="9525">
                <a:solidFill>
                  <a:srgbClr val="8896A6"/>
                </a:solidFill>
                <a:prstDash val="dash"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003220" y="5506402"/>
                <a:ext cx="18055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+ Prometheus / ES / k8s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622631" y="5691188"/>
                <a:ext cx="56673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后续可插拔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521018" y="6238399"/>
            <a:ext cx="8413528" cy="198120"/>
            <a:chOff x="521018" y="6238399"/>
            <a:chExt cx="8413528" cy="198120"/>
          </a:xfrm>
        </p:grpSpPr>
        <p:sp>
          <p:nvSpPr>
            <p:cNvPr id="72" name="TextBox 72"/>
            <p:cNvSpPr txBox="1"/>
            <p:nvPr/>
          </p:nvSpPr>
          <p:spPr>
            <a:xfrm>
              <a:off x="521018" y="6238399"/>
              <a:ext cx="764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ADR 索引：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321118" y="6238399"/>
              <a:ext cx="17050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ADR-001 原生 Tool-Calling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035618" y="623839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· 002 只读边界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083368" y="6238399"/>
              <a:ext cx="1014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· 003 ToolSpec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131118" y="6238399"/>
              <a:ext cx="1640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· 004 SafeToolExecutor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45618" y="623839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· 005 优雅收尾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083868" y="623839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· 006 技术栈</a:t>
              </a:r>
            </a:p>
          </p:txBody>
        </p:sp>
      </p:grpSp>
      <p:sp>
        <p:nvSpPr>
          <p:cNvPr id="80" name="Line 80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522922" y="657844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PRD §4 / README 架构图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44" grpId="0"/>
      <p:bldP spid="49" grpId="0"/>
      <p:bldP spid="71" grpId="0"/>
      <p:bldP spid="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06 · 核心创新 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4411128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原生 Tool-Calling 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105728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拒绝 LangChain 等抽象框架 · 用 openai SDK 的 tool_calls 自实现"接 prompt → 调度 tool → 结果回灌"循环（ADR-001）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541145"/>
            <a:ext cx="11049000" cy="2459355"/>
            <a:chOff x="571500" y="1541145"/>
            <a:chExt cx="11049000" cy="2459355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2095500"/>
              <a:ext cx="2476500" cy="1905000"/>
              <a:chOff x="571500" y="2095500"/>
              <a:chExt cx="2476500" cy="1905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2095500"/>
                <a:ext cx="24765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4F6FA"/>
              </a:solidFill>
              <a:ln w="13335">
                <a:solidFill>
                  <a:srgbClr val="00A6A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00100" y="2324100"/>
                <a:ext cx="381000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57188">
                    <a:moveTo>
                      <a:pt x="214312" y="0"/>
                    </a:moveTo>
                    <a:lnTo>
                      <a:pt x="214312" y="47625"/>
                    </a:lnTo>
                    <a:lnTo>
                      <a:pt x="309562" y="47625"/>
                    </a:lnTo>
                    <a:lnTo>
                      <a:pt x="381000" y="202406"/>
                    </a:lnTo>
                    <a:lnTo>
                      <a:pt x="309562" y="357188"/>
                    </a:lnTo>
                    <a:lnTo>
                      <a:pt x="71438" y="357188"/>
                    </a:lnTo>
                    <a:lnTo>
                      <a:pt x="0" y="202406"/>
                    </a:lnTo>
                    <a:lnTo>
                      <a:pt x="71438" y="47625"/>
                    </a:lnTo>
                    <a:lnTo>
                      <a:pt x="166688" y="47625"/>
                    </a:lnTo>
                    <a:lnTo>
                      <a:pt x="166688" y="0"/>
                    </a:lnTo>
                    <a:lnTo>
                      <a:pt x="214312" y="0"/>
                    </a:lnTo>
                    <a:close/>
                    <a:moveTo>
                      <a:pt x="109488" y="279521"/>
                    </a:moveTo>
                    <a:lnTo>
                      <a:pt x="190500" y="291984"/>
                    </a:lnTo>
                    <a:lnTo>
                      <a:pt x="271513" y="279521"/>
                    </a:lnTo>
                    <a:lnTo>
                      <a:pt x="264269" y="232449"/>
                    </a:lnTo>
                    <a:lnTo>
                      <a:pt x="190500" y="243797"/>
                    </a:lnTo>
                    <a:lnTo>
                      <a:pt x="116730" y="232449"/>
                    </a:lnTo>
                    <a:lnTo>
                      <a:pt x="109488" y="279521"/>
                    </a:lnTo>
                    <a:close/>
                    <a:moveTo>
                      <a:pt x="166688" y="160734"/>
                    </a:moveTo>
                    <a:cubicBezTo>
                      <a:pt x="166688" y="177174"/>
                      <a:pt x="153361" y="190500"/>
                      <a:pt x="136922" y="190500"/>
                    </a:cubicBezTo>
                    <a:cubicBezTo>
                      <a:pt x="120483" y="190500"/>
                      <a:pt x="107156" y="177174"/>
                      <a:pt x="107156" y="160734"/>
                    </a:cubicBezTo>
                    <a:cubicBezTo>
                      <a:pt x="107156" y="144295"/>
                      <a:pt x="120483" y="130969"/>
                      <a:pt x="136922" y="130969"/>
                    </a:cubicBezTo>
                    <a:cubicBezTo>
                      <a:pt x="153361" y="130969"/>
                      <a:pt x="166688" y="144295"/>
                      <a:pt x="166688" y="160734"/>
                    </a:cubicBezTo>
                    <a:close/>
                    <a:moveTo>
                      <a:pt x="244078" y="190500"/>
                    </a:moveTo>
                    <a:cubicBezTo>
                      <a:pt x="260518" y="190500"/>
                      <a:pt x="273844" y="177174"/>
                      <a:pt x="273844" y="160734"/>
                    </a:cubicBezTo>
                    <a:cubicBezTo>
                      <a:pt x="273844" y="144295"/>
                      <a:pt x="260518" y="130969"/>
                      <a:pt x="244078" y="130969"/>
                    </a:cubicBezTo>
                    <a:cubicBezTo>
                      <a:pt x="227639" y="130969"/>
                      <a:pt x="214312" y="144295"/>
                      <a:pt x="214312" y="160734"/>
                    </a:cubicBezTo>
                    <a:cubicBezTo>
                      <a:pt x="214312" y="177174"/>
                      <a:pt x="227639" y="190500"/>
                      <a:pt x="244078" y="190500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86765" y="2934652"/>
                <a:ext cx="4775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82955" y="3188018"/>
                <a:ext cx="127644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自然语言输入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87718" y="3514249"/>
                <a:ext cx="1598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"payment-service 刚才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87718" y="3704749"/>
                <a:ext cx="12351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为什么大量 500？"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124200" y="2990850"/>
              <a:ext cx="323850" cy="114300"/>
              <a:chOff x="3124200" y="2990850"/>
              <a:chExt cx="323850" cy="1143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3124200" y="3048000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0F2A44"/>
                </a:solidFill>
              </a:ln>
            </p:spPr>
          </p:sp>
          <p:sp>
            <p:nvSpPr>
              <p:cNvPr id="15" name="Polygon 15"/>
              <p:cNvSpPr/>
              <p:nvPr/>
            </p:nvSpPr>
            <p:spPr>
              <a:xfrm>
                <a:off x="3352800" y="2990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0F2A44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524250" y="2095500"/>
              <a:ext cx="2476500" cy="1905000"/>
              <a:chOff x="3524250" y="2095500"/>
              <a:chExt cx="2476500" cy="1905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524250" y="2095500"/>
                <a:ext cx="24765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4F6FA"/>
              </a:solidFill>
              <a:ln w="13335">
                <a:solidFill>
                  <a:srgbClr val="00A6A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776662" y="2347912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333375" y="0"/>
                    </a:moveTo>
                    <a:lnTo>
                      <a:pt x="0" y="0"/>
                    </a:lnTo>
                    <a:lnTo>
                      <a:pt x="0" y="333375"/>
                    </a:lnTo>
                    <a:lnTo>
                      <a:pt x="333375" y="333375"/>
                    </a:lnTo>
                    <a:lnTo>
                      <a:pt x="333375" y="0"/>
                    </a:lnTo>
                    <a:close/>
                    <a:moveTo>
                      <a:pt x="119062" y="95250"/>
                    </a:moveTo>
                    <a:lnTo>
                      <a:pt x="152738" y="128926"/>
                    </a:lnTo>
                    <a:lnTo>
                      <a:pt x="114977" y="166688"/>
                    </a:lnTo>
                    <a:lnTo>
                      <a:pt x="152738" y="204449"/>
                    </a:lnTo>
                    <a:lnTo>
                      <a:pt x="119062" y="238125"/>
                    </a:lnTo>
                    <a:lnTo>
                      <a:pt x="47625" y="166688"/>
                    </a:lnTo>
                    <a:lnTo>
                      <a:pt x="119062" y="95250"/>
                    </a:lnTo>
                    <a:close/>
                    <a:moveTo>
                      <a:pt x="214312" y="95250"/>
                    </a:moveTo>
                    <a:lnTo>
                      <a:pt x="180637" y="128926"/>
                    </a:lnTo>
                    <a:lnTo>
                      <a:pt x="218399" y="166688"/>
                    </a:lnTo>
                    <a:lnTo>
                      <a:pt x="180637" y="204449"/>
                    </a:lnTo>
                    <a:lnTo>
                      <a:pt x="214312" y="238125"/>
                    </a:lnTo>
                    <a:lnTo>
                      <a:pt x="285750" y="166688"/>
                    </a:lnTo>
                    <a:lnTo>
                      <a:pt x="214312" y="952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739515" y="2934652"/>
                <a:ext cx="5177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735705" y="3188018"/>
                <a:ext cx="184576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Tool Schema → LLM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40468" y="3514249"/>
                <a:ext cx="14131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把 Pydantic 严谨参数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40468" y="3704749"/>
                <a:ext cx="13419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转成 LLM tools 列表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990850"/>
              <a:ext cx="323850" cy="114300"/>
              <a:chOff x="6076950" y="2990850"/>
              <a:chExt cx="323850" cy="114300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076950" y="3048000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0F2A44"/>
                </a:solidFill>
              </a:ln>
            </p:spPr>
          </p:sp>
          <p:sp>
            <p:nvSpPr>
              <p:cNvPr id="25" name="Polygon 25"/>
              <p:cNvSpPr/>
              <p:nvPr/>
            </p:nvSpPr>
            <p:spPr>
              <a:xfrm>
                <a:off x="6305550" y="2990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0F2A44"/>
              </a:solidFill>
              <a:ln>
                <a:noFill/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6477000" y="2095500"/>
              <a:ext cx="2476500" cy="1905000"/>
              <a:chOff x="6477000" y="2095500"/>
              <a:chExt cx="2476500" cy="1905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77000" y="2095500"/>
                <a:ext cx="24765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4F6FA"/>
              </a:solidFill>
              <a:ln w="13335">
                <a:solidFill>
                  <a:srgbClr val="00A6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13263" y="2324100"/>
                <a:ext cx="365674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65674" h="381000">
                    <a:moveTo>
                      <a:pt x="147118" y="0"/>
                    </a:moveTo>
                    <a:lnTo>
                      <a:pt x="218556" y="0"/>
                    </a:lnTo>
                    <a:lnTo>
                      <a:pt x="232698" y="56566"/>
                    </a:lnTo>
                    <a:cubicBezTo>
                      <a:pt x="247788" y="62186"/>
                      <a:pt x="261673" y="70284"/>
                      <a:pt x="273855" y="80364"/>
                    </a:cubicBezTo>
                    <a:lnTo>
                      <a:pt x="329955" y="64317"/>
                    </a:lnTo>
                    <a:lnTo>
                      <a:pt x="365674" y="126183"/>
                    </a:lnTo>
                    <a:lnTo>
                      <a:pt x="323743" y="166727"/>
                    </a:lnTo>
                    <a:cubicBezTo>
                      <a:pt x="325038" y="174458"/>
                      <a:pt x="325712" y="182401"/>
                      <a:pt x="325712" y="190500"/>
                    </a:cubicBezTo>
                    <a:cubicBezTo>
                      <a:pt x="325712" y="198599"/>
                      <a:pt x="325038" y="206542"/>
                      <a:pt x="323743" y="214273"/>
                    </a:cubicBezTo>
                    <a:lnTo>
                      <a:pt x="365674" y="254818"/>
                    </a:lnTo>
                    <a:lnTo>
                      <a:pt x="329955" y="316682"/>
                    </a:lnTo>
                    <a:lnTo>
                      <a:pt x="273855" y="300635"/>
                    </a:lnTo>
                    <a:cubicBezTo>
                      <a:pt x="261673" y="310715"/>
                      <a:pt x="247788" y="318814"/>
                      <a:pt x="232698" y="324433"/>
                    </a:cubicBezTo>
                    <a:lnTo>
                      <a:pt x="218556" y="381000"/>
                    </a:lnTo>
                    <a:lnTo>
                      <a:pt x="147118" y="381000"/>
                    </a:lnTo>
                    <a:lnTo>
                      <a:pt x="132977" y="324433"/>
                    </a:lnTo>
                    <a:cubicBezTo>
                      <a:pt x="117886" y="318814"/>
                      <a:pt x="104002" y="310715"/>
                      <a:pt x="91818" y="300635"/>
                    </a:cubicBezTo>
                    <a:lnTo>
                      <a:pt x="35719" y="316682"/>
                    </a:lnTo>
                    <a:lnTo>
                      <a:pt x="0" y="254818"/>
                    </a:lnTo>
                    <a:lnTo>
                      <a:pt x="41931" y="214273"/>
                    </a:lnTo>
                    <a:cubicBezTo>
                      <a:pt x="40636" y="206542"/>
                      <a:pt x="39962" y="198599"/>
                      <a:pt x="39962" y="190500"/>
                    </a:cubicBezTo>
                    <a:cubicBezTo>
                      <a:pt x="39962" y="182401"/>
                      <a:pt x="40636" y="174458"/>
                      <a:pt x="41931" y="166727"/>
                    </a:cubicBezTo>
                    <a:lnTo>
                      <a:pt x="0" y="126183"/>
                    </a:lnTo>
                    <a:lnTo>
                      <a:pt x="35719" y="64317"/>
                    </a:lnTo>
                    <a:lnTo>
                      <a:pt x="91818" y="80364"/>
                    </a:lnTo>
                    <a:cubicBezTo>
                      <a:pt x="104002" y="70284"/>
                      <a:pt x="117886" y="62186"/>
                      <a:pt x="132977" y="56566"/>
                    </a:cubicBezTo>
                    <a:lnTo>
                      <a:pt x="147118" y="0"/>
                    </a:lnTo>
                    <a:close/>
                    <a:moveTo>
                      <a:pt x="182837" y="238125"/>
                    </a:moveTo>
                    <a:cubicBezTo>
                      <a:pt x="209140" y="238125"/>
                      <a:pt x="230462" y="216803"/>
                      <a:pt x="230462" y="190500"/>
                    </a:cubicBezTo>
                    <a:cubicBezTo>
                      <a:pt x="230462" y="164197"/>
                      <a:pt x="209140" y="142875"/>
                      <a:pt x="182837" y="142875"/>
                    </a:cubicBezTo>
                    <a:cubicBezTo>
                      <a:pt x="156535" y="142875"/>
                      <a:pt x="135212" y="164197"/>
                      <a:pt x="135212" y="190500"/>
                    </a:cubicBezTo>
                    <a:cubicBezTo>
                      <a:pt x="135212" y="216803"/>
                      <a:pt x="156535" y="238125"/>
                      <a:pt x="182837" y="238125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692265" y="2934652"/>
                <a:ext cx="5177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STEP 3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88455" y="3188018"/>
                <a:ext cx="1493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解析 tool_calls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93218" y="3514249"/>
                <a:ext cx="13063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本地执行工具函数，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93218" y="370474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结果拼回上下文再次请求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029700" y="2990850"/>
              <a:ext cx="323850" cy="114300"/>
              <a:chOff x="9029700" y="2990850"/>
              <a:chExt cx="323850" cy="114300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9029700" y="3048000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0F2A44"/>
                </a:solidFill>
              </a:ln>
            </p:spPr>
          </p:sp>
          <p:sp>
            <p:nvSpPr>
              <p:cNvPr id="35" name="Polygon 35"/>
              <p:cNvSpPr/>
              <p:nvPr/>
            </p:nvSpPr>
            <p:spPr>
              <a:xfrm>
                <a:off x="9258300" y="29908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0F2A44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29750" y="2095500"/>
              <a:ext cx="2190750" cy="1905000"/>
              <a:chOff x="9429750" y="2095500"/>
              <a:chExt cx="2190750" cy="1905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9429750" y="2095500"/>
                <a:ext cx="219075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658350" y="23241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381000"/>
                    </a:move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lose/>
                    <a:moveTo>
                      <a:pt x="302588" y="135901"/>
                    </a:moveTo>
                    <a:lnTo>
                      <a:pt x="268912" y="102224"/>
                    </a:lnTo>
                    <a:lnTo>
                      <a:pt x="154781" y="216355"/>
                    </a:lnTo>
                    <a:lnTo>
                      <a:pt x="112088" y="173662"/>
                    </a:lnTo>
                    <a:lnTo>
                      <a:pt x="78412" y="207338"/>
                    </a:lnTo>
                    <a:lnTo>
                      <a:pt x="154781" y="283707"/>
                    </a:lnTo>
                    <a:lnTo>
                      <a:pt x="302588" y="135901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645015" y="2934652"/>
                <a:ext cx="5177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STEP 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641205" y="318801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停止调用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645968" y="3514249"/>
                <a:ext cx="15413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LLM 不再发起 tool_call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645968" y="3704749"/>
                <a:ext cx="1135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→ 生成结构化 RCA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4857750" y="1695450"/>
              <a:ext cx="2857500" cy="209550"/>
            </a:xfrm>
            <a:custGeom>
              <a:avLst/>
              <a:gdLst/>
              <a:ahLst/>
              <a:cxnLst/>
              <a:rect l="l" t="t" r="r" b="b"/>
              <a:pathLst>
                <a:path w="2857500" h="209550">
                  <a:moveTo>
                    <a:pt x="2857500" y="209550"/>
                  </a:moveTo>
                  <a:cubicBezTo>
                    <a:pt x="2857500" y="69850"/>
                    <a:pt x="2381250" y="0"/>
                    <a:pt x="1428750" y="0"/>
                  </a:cubicBezTo>
                  <a:cubicBezTo>
                    <a:pt x="476250" y="0"/>
                    <a:pt x="0" y="69850"/>
                    <a:pt x="0" y="209550"/>
                  </a:cubicBezTo>
                </a:path>
              </a:pathLst>
            </a:custGeom>
            <a:noFill/>
            <a:ln w="13335">
              <a:solidFill>
                <a:srgbClr val="00A6A6"/>
              </a:solidFill>
              <a:custDash>
                <a:ds d="428571" sp="285714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59657" y="1541145"/>
              <a:ext cx="20536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结果回灌，循环直到 LLM 停止调用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381500"/>
            <a:ext cx="11811024" cy="1524000"/>
            <a:chOff x="571500" y="4381500"/>
            <a:chExt cx="11811024" cy="1524000"/>
          </a:xfrm>
        </p:grpSpPr>
        <p:sp>
          <p:nvSpPr>
            <p:cNvPr id="47" name="Rectangle 47"/>
            <p:cNvSpPr/>
            <p:nvPr/>
          </p:nvSpPr>
          <p:spPr>
            <a:xfrm>
              <a:off x="571500" y="4381500"/>
              <a:ext cx="11049000" cy="1524000"/>
            </a:xfrm>
            <a:prstGeom prst="roundRect">
              <a:avLst>
                <a:gd name="adj" fmla="val 5000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8665" y="4592002"/>
              <a:ext cx="19911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为什么是"原生"而非"框架"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62000" y="48006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62000" y="4953000"/>
              <a:ext cx="4335328" cy="473869"/>
              <a:chOff x="762000" y="4953000"/>
              <a:chExt cx="4335328" cy="47386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62000" y="49530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228600"/>
                    </a:move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lose/>
                    <a:moveTo>
                      <a:pt x="181553" y="81540"/>
                    </a:moveTo>
                    <a:lnTo>
                      <a:pt x="161347" y="61335"/>
                    </a:lnTo>
                    <a:lnTo>
                      <a:pt x="92869" y="129813"/>
                    </a:lnTo>
                    <a:lnTo>
                      <a:pt x="67253" y="104197"/>
                    </a:lnTo>
                    <a:lnTo>
                      <a:pt x="47047" y="124403"/>
                    </a:lnTo>
                    <a:lnTo>
                      <a:pt x="92869" y="170224"/>
                    </a:lnTo>
                    <a:lnTo>
                      <a:pt x="181553" y="8154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90612" y="5003006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推理流可见、可约束、可调试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92518" y="5228749"/>
                <a:ext cx="40048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SRE 场景对每一步推理的可见性是刚需，框架抽象层会引入黑盒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191000" y="4953000"/>
              <a:ext cx="3915252" cy="473869"/>
              <a:chOff x="4191000" y="4953000"/>
              <a:chExt cx="3915252" cy="47386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191000" y="49530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228600"/>
                    </a:move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lose/>
                    <a:moveTo>
                      <a:pt x="181553" y="81540"/>
                    </a:moveTo>
                    <a:lnTo>
                      <a:pt x="161347" y="61335"/>
                    </a:lnTo>
                    <a:lnTo>
                      <a:pt x="92869" y="129813"/>
                    </a:lnTo>
                    <a:lnTo>
                      <a:pt x="67253" y="104197"/>
                    </a:lnTo>
                    <a:lnTo>
                      <a:pt x="47047" y="124403"/>
                    </a:lnTo>
                    <a:lnTo>
                      <a:pt x="92869" y="170224"/>
                    </a:lnTo>
                    <a:lnTo>
                      <a:pt x="181553" y="8154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4519612" y="5003006"/>
                <a:ext cx="10144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执行效率最优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21518" y="5228749"/>
                <a:ext cx="35847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排查是多步长链路，框架抽象层会引入不可控延迟与开销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7620000" y="4953000"/>
              <a:ext cx="4762524" cy="473869"/>
              <a:chOff x="7620000" y="4953000"/>
              <a:chExt cx="4762524" cy="473869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620000" y="49530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228600"/>
                    </a:move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lose/>
                    <a:moveTo>
                      <a:pt x="181553" y="81540"/>
                    </a:moveTo>
                    <a:lnTo>
                      <a:pt x="161347" y="61335"/>
                    </a:lnTo>
                    <a:lnTo>
                      <a:pt x="92869" y="129813"/>
                    </a:lnTo>
                    <a:lnTo>
                      <a:pt x="67253" y="104197"/>
                    </a:lnTo>
                    <a:lnTo>
                      <a:pt x="47047" y="124403"/>
                    </a:lnTo>
                    <a:lnTo>
                      <a:pt x="92869" y="170224"/>
                    </a:lnTo>
                    <a:lnTo>
                      <a:pt x="181553" y="8154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948612" y="5003006"/>
                <a:ext cx="18359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为 MCP / GOAP 演进铺路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950518" y="5228749"/>
                <a:ext cx="44320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ToolSpec 契约对齐 MCP schema，未来替换 transport 不动业务逻辑</a:t>
                </a:r>
              </a:p>
            </p:txBody>
          </p:sp>
        </p:grpSp>
      </p:grpSp>
      <p:sp>
        <p:nvSpPr>
          <p:cNvPr id="63" name="Line 63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22922" y="6578441"/>
            <a:ext cx="12318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ADR-001 · PRD §4 / §7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07 · 核心创新 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7794275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ToolSpec + SafeToolExecutor 四层包装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76350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所有 Tool 共享同一调度外壳 · 任意新工具零成本继承全部防护（ADR-003 / ADR-004）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90500" y="1867852"/>
            <a:ext cx="6583105" cy="2513648"/>
            <a:chOff x="190500" y="1867852"/>
            <a:chExt cx="6583105" cy="2513648"/>
          </a:xfrm>
        </p:grpSpPr>
        <p:sp>
          <p:nvSpPr>
            <p:cNvPr id="7" name="TextBox 7"/>
            <p:cNvSpPr txBox="1"/>
            <p:nvPr/>
          </p:nvSpPr>
          <p:spPr>
            <a:xfrm>
              <a:off x="558165" y="1867852"/>
              <a:ext cx="22326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SafeToolExecutor · 四道关卡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0070" y="2112645"/>
              <a:ext cx="15673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对所有 ToolSpec 透明生效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524500" y="2438400"/>
              <a:ext cx="1249105" cy="361950"/>
              <a:chOff x="5524500" y="2438400"/>
              <a:chExt cx="1249105" cy="3619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524500" y="2438400"/>
                <a:ext cx="1143000" cy="361950"/>
              </a:xfrm>
              <a:prstGeom prst="roundRect">
                <a:avLst>
                  <a:gd name="adj" fmla="val 10526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600700" y="2495550"/>
                <a:ext cx="247650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32172">
                    <a:moveTo>
                      <a:pt x="139303" y="0"/>
                    </a:moveTo>
                    <a:lnTo>
                      <a:pt x="139303" y="30956"/>
                    </a:lnTo>
                    <a:lnTo>
                      <a:pt x="201216" y="30956"/>
                    </a:lnTo>
                    <a:lnTo>
                      <a:pt x="247650" y="131564"/>
                    </a:lnTo>
                    <a:lnTo>
                      <a:pt x="201216" y="232172"/>
                    </a:lnTo>
                    <a:lnTo>
                      <a:pt x="46434" y="232172"/>
                    </a:lnTo>
                    <a:lnTo>
                      <a:pt x="0" y="131564"/>
                    </a:lnTo>
                    <a:lnTo>
                      <a:pt x="46434" y="30956"/>
                    </a:lnTo>
                    <a:lnTo>
                      <a:pt x="108347" y="30956"/>
                    </a:lnTo>
                    <a:lnTo>
                      <a:pt x="108347" y="0"/>
                    </a:lnTo>
                    <a:lnTo>
                      <a:pt x="139303" y="0"/>
                    </a:lnTo>
                    <a:close/>
                    <a:moveTo>
                      <a:pt x="71167" y="181688"/>
                    </a:moveTo>
                    <a:lnTo>
                      <a:pt x="123825" y="189790"/>
                    </a:lnTo>
                    <a:lnTo>
                      <a:pt x="176483" y="181688"/>
                    </a:lnTo>
                    <a:lnTo>
                      <a:pt x="171775" y="151092"/>
                    </a:lnTo>
                    <a:lnTo>
                      <a:pt x="123825" y="158468"/>
                    </a:lnTo>
                    <a:lnTo>
                      <a:pt x="75875" y="151092"/>
                    </a:lnTo>
                    <a:lnTo>
                      <a:pt x="71167" y="181688"/>
                    </a:lnTo>
                    <a:close/>
                    <a:moveTo>
                      <a:pt x="108347" y="104477"/>
                    </a:moveTo>
                    <a:cubicBezTo>
                      <a:pt x="108347" y="115163"/>
                      <a:pt x="99685" y="123825"/>
                      <a:pt x="88999" y="123825"/>
                    </a:cubicBezTo>
                    <a:cubicBezTo>
                      <a:pt x="78314" y="123825"/>
                      <a:pt x="69652" y="115163"/>
                      <a:pt x="69652" y="104477"/>
                    </a:cubicBezTo>
                    <a:cubicBezTo>
                      <a:pt x="69652" y="93792"/>
                      <a:pt x="78314" y="85130"/>
                      <a:pt x="88999" y="85130"/>
                    </a:cubicBezTo>
                    <a:cubicBezTo>
                      <a:pt x="99685" y="85130"/>
                      <a:pt x="108347" y="93792"/>
                      <a:pt x="108347" y="104477"/>
                    </a:cubicBezTo>
                    <a:close/>
                    <a:moveTo>
                      <a:pt x="158651" y="123825"/>
                    </a:moveTo>
                    <a:cubicBezTo>
                      <a:pt x="169337" y="123825"/>
                      <a:pt x="177998" y="115163"/>
                      <a:pt x="177998" y="104477"/>
                    </a:cubicBezTo>
                    <a:cubicBezTo>
                      <a:pt x="177998" y="93792"/>
                      <a:pt x="169337" y="85130"/>
                      <a:pt x="158651" y="85130"/>
                    </a:cubicBezTo>
                    <a:cubicBezTo>
                      <a:pt x="147965" y="85130"/>
                      <a:pt x="139303" y="93792"/>
                      <a:pt x="139303" y="104477"/>
                    </a:cubicBezTo>
                    <a:cubicBezTo>
                      <a:pt x="139303" y="115163"/>
                      <a:pt x="147965" y="123825"/>
                      <a:pt x="158651" y="123825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799396" y="2561749"/>
                <a:ext cx="9742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 tool_call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6096000" y="2800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038850" y="2971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2A44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71500" y="3124200"/>
              <a:ext cx="1143000" cy="533400"/>
              <a:chOff x="571500" y="3124200"/>
              <a:chExt cx="1143000" cy="533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3124200"/>
                <a:ext cx="1143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5722" y="3244691"/>
                <a:ext cx="6345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① 预算预检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90312" y="3435191"/>
                <a:ext cx="110537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token / tool / 时长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905000" y="3124200"/>
              <a:ext cx="1143000" cy="533400"/>
              <a:chOff x="1905000" y="3124200"/>
              <a:chExt cx="1143000" cy="533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905000" y="3124200"/>
                <a:ext cx="1143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159222" y="3244691"/>
                <a:ext cx="6345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② 查询缓存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038279" y="3435191"/>
                <a:ext cx="87644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去重 · TTL 分级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238500" y="3124200"/>
              <a:ext cx="1143000" cy="533400"/>
              <a:chOff x="3238500" y="3124200"/>
              <a:chExt cx="1143000" cy="5334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238500" y="3124200"/>
                <a:ext cx="1143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454767" y="3244691"/>
                <a:ext cx="71046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③ QL 预校验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75386" y="3435191"/>
                <a:ext cx="10692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L1 语法 + L2 作用域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572000" y="3124200"/>
              <a:ext cx="1524000" cy="533400"/>
              <a:chOff x="4572000" y="3124200"/>
              <a:chExt cx="1524000" cy="533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572000" y="3124200"/>
                <a:ext cx="1524000" cy="533400"/>
              </a:xfrm>
              <a:prstGeom prst="roundRect">
                <a:avLst>
                  <a:gd name="adj" fmla="val 7143"/>
                </a:avLst>
              </a:prstGeom>
              <a:solidFill>
                <a:srgbClr val="F4F6FA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953464" y="3244691"/>
                <a:ext cx="7610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④ 失败自修正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82501" y="3435191"/>
                <a:ext cx="15029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结构化错误回灌 · 最多 3 次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096000" y="36576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038850" y="38671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F2A44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71500" y="4000500"/>
              <a:ext cx="5524500" cy="381000"/>
              <a:chOff x="571500" y="4000500"/>
              <a:chExt cx="5524500" cy="381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4000500"/>
                <a:ext cx="5524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392199" y="4134802"/>
                <a:ext cx="38831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⑤ 执行（timeout + 指数退避重试） → 结构化结果回灌</a:t>
                </a:r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190500" y="32766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55" y="190500"/>
                    <a:pt x="190500" y="147855"/>
                    <a:pt x="190500" y="95250"/>
                  </a:cubicBezTo>
                  <a:cubicBezTo>
                    <a:pt x="190500" y="42645"/>
                    <a:pt x="147855" y="0"/>
                    <a:pt x="95250" y="0"/>
                  </a:cubicBezTo>
                  <a:cubicBezTo>
                    <a:pt x="42645" y="0"/>
                    <a:pt x="0" y="42645"/>
                    <a:pt x="0" y="95250"/>
                  </a:cubicBezTo>
                  <a:cubicBezTo>
                    <a:pt x="0" y="147855"/>
                    <a:pt x="42645" y="190500"/>
                    <a:pt x="95250" y="190500"/>
                  </a:cubicBezTo>
                  <a:close/>
                  <a:moveTo>
                    <a:pt x="83344" y="35719"/>
                  </a:moveTo>
                  <a:lnTo>
                    <a:pt x="83344" y="100182"/>
                  </a:lnTo>
                  <a:lnTo>
                    <a:pt x="122550" y="139388"/>
                  </a:lnTo>
                  <a:lnTo>
                    <a:pt x="139388" y="122550"/>
                  </a:lnTo>
                  <a:lnTo>
                    <a:pt x="107156" y="90318"/>
                  </a:lnTo>
                  <a:lnTo>
                    <a:pt x="107156" y="35719"/>
                  </a:lnTo>
                  <a:lnTo>
                    <a:pt x="83344" y="35719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547812" y="3276600"/>
              <a:ext cx="142875" cy="190500"/>
              <a:chOff x="1547812" y="3276600"/>
              <a:chExt cx="142875" cy="190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47812" y="3352800"/>
                <a:ext cx="142875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4769">
                    <a:moveTo>
                      <a:pt x="132601" y="6074"/>
                    </a:moveTo>
                    <a:cubicBezTo>
                      <a:pt x="135950" y="4399"/>
                      <a:pt x="139450" y="2379"/>
                      <a:pt x="142875" y="0"/>
                    </a:cubicBezTo>
                    <a:lnTo>
                      <a:pt x="142875" y="19050"/>
                    </a:lnTo>
                    <a:cubicBezTo>
                      <a:pt x="142875" y="38777"/>
                      <a:pt x="110891" y="54769"/>
                      <a:pt x="71438" y="54769"/>
                    </a:cubicBezTo>
                    <a:cubicBezTo>
                      <a:pt x="31984" y="54769"/>
                      <a:pt x="0" y="38777"/>
                      <a:pt x="0" y="19050"/>
                    </a:cubicBezTo>
                    <a:lnTo>
                      <a:pt x="0" y="0"/>
                    </a:lnTo>
                    <a:cubicBezTo>
                      <a:pt x="3426" y="2379"/>
                      <a:pt x="6924" y="4399"/>
                      <a:pt x="10274" y="6074"/>
                    </a:cubicBezTo>
                    <a:cubicBezTo>
                      <a:pt x="27158" y="14516"/>
                      <a:pt x="48815" y="19050"/>
                      <a:pt x="71438" y="19050"/>
                    </a:cubicBezTo>
                    <a:cubicBezTo>
                      <a:pt x="94060" y="19050"/>
                      <a:pt x="115717" y="14516"/>
                      <a:pt x="132601" y="6074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547812" y="3412331"/>
                <a:ext cx="142875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4769">
                    <a:moveTo>
                      <a:pt x="0" y="0"/>
                    </a:moveTo>
                    <a:lnTo>
                      <a:pt x="0" y="19050"/>
                    </a:lnTo>
                    <a:cubicBezTo>
                      <a:pt x="0" y="38777"/>
                      <a:pt x="31984" y="54769"/>
                      <a:pt x="71438" y="54769"/>
                    </a:cubicBezTo>
                    <a:cubicBezTo>
                      <a:pt x="110891" y="54769"/>
                      <a:pt x="142875" y="38777"/>
                      <a:pt x="142875" y="19050"/>
                    </a:cubicBezTo>
                    <a:lnTo>
                      <a:pt x="142875" y="0"/>
                    </a:lnTo>
                    <a:cubicBezTo>
                      <a:pt x="139450" y="2379"/>
                      <a:pt x="135950" y="4399"/>
                      <a:pt x="132601" y="6075"/>
                    </a:cubicBezTo>
                    <a:cubicBezTo>
                      <a:pt x="115717" y="14516"/>
                      <a:pt x="94060" y="19050"/>
                      <a:pt x="71438" y="19050"/>
                    </a:cubicBezTo>
                    <a:cubicBezTo>
                      <a:pt x="48815" y="19050"/>
                      <a:pt x="27158" y="14516"/>
                      <a:pt x="10274" y="6075"/>
                    </a:cubicBezTo>
                    <a:cubicBezTo>
                      <a:pt x="6924" y="4399"/>
                      <a:pt x="3426" y="2379"/>
                      <a:pt x="0" y="0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547812" y="3276600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71438" y="0"/>
                    </a:moveTo>
                    <a:cubicBezTo>
                      <a:pt x="110891" y="0"/>
                      <a:pt x="142875" y="15992"/>
                      <a:pt x="142875" y="35719"/>
                    </a:cubicBezTo>
                    <a:cubicBezTo>
                      <a:pt x="142875" y="55446"/>
                      <a:pt x="110891" y="71438"/>
                      <a:pt x="71438" y="71438"/>
                    </a:cubicBezTo>
                    <a:cubicBezTo>
                      <a:pt x="31984" y="71438"/>
                      <a:pt x="0" y="55446"/>
                      <a:pt x="0" y="35719"/>
                    </a:cubicBezTo>
                    <a:cubicBezTo>
                      <a:pt x="0" y="15992"/>
                      <a:pt x="31984" y="0"/>
                      <a:pt x="71438" y="0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</p:grpSp>
        <p:sp>
          <p:nvSpPr>
            <p:cNvPr id="41" name="Freeform 41"/>
            <p:cNvSpPr/>
            <p:nvPr/>
          </p:nvSpPr>
          <p:spPr>
            <a:xfrm>
              <a:off x="2869406" y="3288506"/>
              <a:ext cx="166688" cy="166688"/>
            </a:xfrm>
            <a:custGeom>
              <a:avLst/>
              <a:gdLst/>
              <a:ahLst/>
              <a:cxnLst/>
              <a:rect l="l" t="t" r="r" b="b"/>
              <a:pathLst>
                <a:path w="166688" h="166688">
                  <a:moveTo>
                    <a:pt x="166688" y="0"/>
                  </a:moveTo>
                  <a:lnTo>
                    <a:pt x="0" y="0"/>
                  </a:lnTo>
                  <a:lnTo>
                    <a:pt x="0" y="166688"/>
                  </a:lnTo>
                  <a:lnTo>
                    <a:pt x="166688" y="166688"/>
                  </a:lnTo>
                  <a:lnTo>
                    <a:pt x="166688" y="0"/>
                  </a:lnTo>
                  <a:close/>
                  <a:moveTo>
                    <a:pt x="59531" y="47625"/>
                  </a:moveTo>
                  <a:lnTo>
                    <a:pt x="76369" y="64463"/>
                  </a:lnTo>
                  <a:lnTo>
                    <a:pt x="57488" y="83344"/>
                  </a:lnTo>
                  <a:lnTo>
                    <a:pt x="76369" y="102225"/>
                  </a:lnTo>
                  <a:lnTo>
                    <a:pt x="59531" y="119062"/>
                  </a:lnTo>
                  <a:lnTo>
                    <a:pt x="23812" y="83344"/>
                  </a:lnTo>
                  <a:lnTo>
                    <a:pt x="59531" y="47625"/>
                  </a:lnTo>
                  <a:close/>
                  <a:moveTo>
                    <a:pt x="107156" y="47625"/>
                  </a:moveTo>
                  <a:lnTo>
                    <a:pt x="90318" y="64463"/>
                  </a:lnTo>
                  <a:lnTo>
                    <a:pt x="109199" y="83344"/>
                  </a:lnTo>
                  <a:lnTo>
                    <a:pt x="90318" y="102225"/>
                  </a:lnTo>
                  <a:lnTo>
                    <a:pt x="107156" y="119062"/>
                  </a:lnTo>
                  <a:lnTo>
                    <a:pt x="142875" y="83344"/>
                  </a:lnTo>
                  <a:lnTo>
                    <a:pt x="107156" y="47625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4208859" y="3276600"/>
              <a:ext cx="154781" cy="190500"/>
            </a:xfrm>
            <a:custGeom>
              <a:avLst/>
              <a:gdLst/>
              <a:ahLst/>
              <a:cxnLst/>
              <a:rect l="l" t="t" r="r" b="b"/>
              <a:pathLst>
                <a:path w="154781" h="190500">
                  <a:moveTo>
                    <a:pt x="41672" y="57055"/>
                  </a:moveTo>
                  <a:cubicBezTo>
                    <a:pt x="52184" y="52461"/>
                    <a:pt x="59531" y="41971"/>
                    <a:pt x="59531" y="29766"/>
                  </a:cubicBezTo>
                  <a:cubicBezTo>
                    <a:pt x="59531" y="13327"/>
                    <a:pt x="46205" y="0"/>
                    <a:pt x="29766" y="0"/>
                  </a:cubicBezTo>
                  <a:cubicBezTo>
                    <a:pt x="13327" y="0"/>
                    <a:pt x="0" y="13327"/>
                    <a:pt x="0" y="29766"/>
                  </a:cubicBezTo>
                  <a:cubicBezTo>
                    <a:pt x="0" y="41971"/>
                    <a:pt x="7347" y="52461"/>
                    <a:pt x="17859" y="57055"/>
                  </a:cubicBezTo>
                  <a:lnTo>
                    <a:pt x="17859" y="133445"/>
                  </a:lnTo>
                  <a:cubicBezTo>
                    <a:pt x="7347" y="138039"/>
                    <a:pt x="0" y="148528"/>
                    <a:pt x="0" y="160734"/>
                  </a:cubicBezTo>
                  <a:cubicBezTo>
                    <a:pt x="0" y="177173"/>
                    <a:pt x="13327" y="190500"/>
                    <a:pt x="29766" y="190500"/>
                  </a:cubicBezTo>
                  <a:cubicBezTo>
                    <a:pt x="46205" y="190500"/>
                    <a:pt x="59531" y="177173"/>
                    <a:pt x="59531" y="160734"/>
                  </a:cubicBezTo>
                  <a:cubicBezTo>
                    <a:pt x="59531" y="148528"/>
                    <a:pt x="52184" y="138039"/>
                    <a:pt x="41672" y="133445"/>
                  </a:cubicBezTo>
                  <a:lnTo>
                    <a:pt x="41672" y="107156"/>
                  </a:lnTo>
                  <a:lnTo>
                    <a:pt x="136922" y="107156"/>
                  </a:lnTo>
                  <a:lnTo>
                    <a:pt x="136922" y="57055"/>
                  </a:lnTo>
                  <a:cubicBezTo>
                    <a:pt x="147435" y="52461"/>
                    <a:pt x="154781" y="41971"/>
                    <a:pt x="154781" y="29766"/>
                  </a:cubicBezTo>
                  <a:cubicBezTo>
                    <a:pt x="154781" y="13327"/>
                    <a:pt x="141455" y="0"/>
                    <a:pt x="125016" y="0"/>
                  </a:cubicBezTo>
                  <a:cubicBezTo>
                    <a:pt x="108577" y="0"/>
                    <a:pt x="95250" y="13327"/>
                    <a:pt x="95250" y="29766"/>
                  </a:cubicBezTo>
                  <a:cubicBezTo>
                    <a:pt x="95250" y="41971"/>
                    <a:pt x="102596" y="52461"/>
                    <a:pt x="113109" y="57055"/>
                  </a:cubicBezTo>
                  <a:lnTo>
                    <a:pt x="113109" y="83344"/>
                  </a:lnTo>
                  <a:lnTo>
                    <a:pt x="41672" y="83344"/>
                  </a:lnTo>
                  <a:lnTo>
                    <a:pt x="41672" y="57055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6667500" y="1905000"/>
            <a:ext cx="4953000" cy="4000500"/>
            <a:chOff x="6667500" y="1905000"/>
            <a:chExt cx="4953000" cy="4000500"/>
          </a:xfrm>
        </p:grpSpPr>
        <p:sp>
          <p:nvSpPr>
            <p:cNvPr id="44" name="Rectangle 44"/>
            <p:cNvSpPr/>
            <p:nvPr/>
          </p:nvSpPr>
          <p:spPr>
            <a:xfrm>
              <a:off x="6667500" y="1905000"/>
              <a:ext cx="4953000" cy="4000500"/>
            </a:xfrm>
            <a:prstGeom prst="roundRect">
              <a:avLst>
                <a:gd name="adj" fmla="val 1905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2765" y="2172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设计意义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896100" y="24003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929438" y="2647950"/>
              <a:ext cx="3086981" cy="683419"/>
              <a:chOff x="6929438" y="2647950"/>
              <a:chExt cx="3086981" cy="683419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929438" y="2647950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50006" y="191691"/>
                    </a:moveTo>
                    <a:lnTo>
                      <a:pt x="50006" y="241697"/>
                    </a:lnTo>
                    <a:lnTo>
                      <a:pt x="75009" y="266700"/>
                    </a:lnTo>
                    <a:lnTo>
                      <a:pt x="125016" y="266700"/>
                    </a:lnTo>
                    <a:lnTo>
                      <a:pt x="150019" y="241697"/>
                    </a:lnTo>
                    <a:lnTo>
                      <a:pt x="150019" y="191691"/>
                    </a:lnTo>
                    <a:lnTo>
                      <a:pt x="170681" y="171028"/>
                    </a:lnTo>
                    <a:cubicBezTo>
                      <a:pt x="189470" y="152240"/>
                      <a:pt x="200025" y="126706"/>
                      <a:pt x="200025" y="100135"/>
                    </a:cubicBezTo>
                    <a:cubicBezTo>
                      <a:pt x="200025" y="44900"/>
                      <a:pt x="155248" y="0"/>
                      <a:pt x="100012" y="0"/>
                    </a:cubicBezTo>
                    <a:cubicBezTo>
                      <a:pt x="44777" y="0"/>
                      <a:pt x="0" y="44900"/>
                      <a:pt x="0" y="100135"/>
                    </a:cubicBezTo>
                    <a:cubicBezTo>
                      <a:pt x="0" y="126706"/>
                      <a:pt x="10555" y="152240"/>
                      <a:pt x="29344" y="171028"/>
                    </a:cubicBezTo>
                    <a:lnTo>
                      <a:pt x="50006" y="191691"/>
                    </a:lnTo>
                    <a:close/>
                    <a:moveTo>
                      <a:pt x="83344" y="164587"/>
                    </a:moveTo>
                    <a:lnTo>
                      <a:pt x="83344" y="100012"/>
                    </a:lnTo>
                    <a:lnTo>
                      <a:pt x="116681" y="100012"/>
                    </a:lnTo>
                    <a:lnTo>
                      <a:pt x="116681" y="164587"/>
                    </a:lnTo>
                    <a:cubicBezTo>
                      <a:pt x="145438" y="157185"/>
                      <a:pt x="166688" y="131080"/>
                      <a:pt x="166688" y="100012"/>
                    </a:cubicBezTo>
                    <a:cubicBezTo>
                      <a:pt x="166688" y="63189"/>
                      <a:pt x="136835" y="33338"/>
                      <a:pt x="100012" y="33338"/>
                    </a:cubicBezTo>
                    <a:cubicBezTo>
                      <a:pt x="63189" y="33338"/>
                      <a:pt x="33338" y="63189"/>
                      <a:pt x="33338" y="100012"/>
                    </a:cubicBezTo>
                    <a:cubicBezTo>
                      <a:pt x="33338" y="131080"/>
                      <a:pt x="54586" y="157185"/>
                      <a:pt x="83344" y="164587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261860" y="27089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四关透明生效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264718" y="2961799"/>
                <a:ext cx="27517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Mimir / Loki / Tempo 各自工具实现只关心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264718" y="3133249"/>
                <a:ext cx="27161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validate / execute，防护逻辑零成本继承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896100" y="3429000"/>
              <a:ext cx="2579204" cy="683419"/>
              <a:chOff x="6896100" y="3429000"/>
              <a:chExt cx="2579204" cy="683419"/>
            </a:xfrm>
          </p:grpSpPr>
          <p:grpSp>
            <p:nvGrpSpPr>
              <p:cNvPr id="54" name="Group 54"/>
              <p:cNvGrpSpPr/>
              <p:nvPr/>
            </p:nvGrpSpPr>
            <p:grpSpPr>
              <a:xfrm>
                <a:off x="6896100" y="3429000"/>
                <a:ext cx="266700" cy="266700"/>
                <a:chOff x="6896100" y="3429000"/>
                <a:chExt cx="266700" cy="2667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6962775" y="34956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66675" y="0"/>
                      </a:moveTo>
                      <a:cubicBezTo>
                        <a:pt x="29851" y="0"/>
                        <a:pt x="0" y="29851"/>
                        <a:pt x="0" y="66675"/>
                      </a:cubicBezTo>
                      <a:cubicBezTo>
                        <a:pt x="0" y="103498"/>
                        <a:pt x="29851" y="133350"/>
                        <a:pt x="66675" y="133350"/>
                      </a:cubicBezTo>
                      <a:cubicBezTo>
                        <a:pt x="103498" y="133350"/>
                        <a:pt x="133350" y="103498"/>
                        <a:pt x="133350" y="66675"/>
                      </a:cubicBezTo>
                      <a:cubicBezTo>
                        <a:pt x="133350" y="29851"/>
                        <a:pt x="103498" y="0"/>
                        <a:pt x="66675" y="0"/>
                      </a:cubicBezTo>
                      <a:close/>
                      <a:moveTo>
                        <a:pt x="33338" y="66675"/>
                      </a:moveTo>
                      <a:cubicBezTo>
                        <a:pt x="33338" y="48263"/>
                        <a:pt x="48263" y="33338"/>
                        <a:pt x="66675" y="33338"/>
                      </a:cubicBezTo>
                      <a:cubicBezTo>
                        <a:pt x="85087" y="33338"/>
                        <a:pt x="100012" y="48263"/>
                        <a:pt x="100012" y="66675"/>
                      </a:cubicBezTo>
                      <a:cubicBezTo>
                        <a:pt x="100012" y="85087"/>
                        <a:pt x="85087" y="100012"/>
                        <a:pt x="66675" y="100012"/>
                      </a:cubicBezTo>
                      <a:cubicBezTo>
                        <a:pt x="48263" y="100012"/>
                        <a:pt x="33338" y="85087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896100" y="3429000"/>
                  <a:ext cx="2667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66700">
                      <a:moveTo>
                        <a:pt x="133350" y="0"/>
                      </a:moveTo>
                      <a:cubicBezTo>
                        <a:pt x="59703" y="0"/>
                        <a:pt x="0" y="59703"/>
                        <a:pt x="0" y="133350"/>
                      </a:cubicBezTo>
                      <a:cubicBezTo>
                        <a:pt x="0" y="206998"/>
                        <a:pt x="59703" y="266700"/>
                        <a:pt x="133350" y="266700"/>
                      </a:cubicBezTo>
                      <a:cubicBezTo>
                        <a:pt x="206998" y="266700"/>
                        <a:pt x="266700" y="206998"/>
                        <a:pt x="266700" y="133350"/>
                      </a:cubicBezTo>
                      <a:cubicBezTo>
                        <a:pt x="266700" y="59703"/>
                        <a:pt x="206998" y="0"/>
                        <a:pt x="133350" y="0"/>
                      </a:cubicBezTo>
                      <a:close/>
                      <a:moveTo>
                        <a:pt x="33338" y="133350"/>
                      </a:moveTo>
                      <a:cubicBezTo>
                        <a:pt x="33338" y="78115"/>
                        <a:pt x="78115" y="33338"/>
                        <a:pt x="133350" y="33338"/>
                      </a:cubicBezTo>
                      <a:cubicBezTo>
                        <a:pt x="188585" y="33338"/>
                        <a:pt x="233362" y="78115"/>
                        <a:pt x="233362" y="133350"/>
                      </a:cubicBezTo>
                      <a:cubicBezTo>
                        <a:pt x="233362" y="188585"/>
                        <a:pt x="188585" y="233362"/>
                        <a:pt x="133350" y="233362"/>
                      </a:cubicBezTo>
                      <a:cubicBezTo>
                        <a:pt x="78115" y="233362"/>
                        <a:pt x="33338" y="188585"/>
                        <a:pt x="33338" y="13335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7261860" y="3489960"/>
                <a:ext cx="17142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可插拔 · 演进无债务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264718" y="3742849"/>
                <a:ext cx="22105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新增 Prometheus / ES / k8s 工具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264718" y="3914299"/>
                <a:ext cx="2082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只需注册 ToolSpec，不动调度层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912769" y="4210050"/>
              <a:ext cx="2370296" cy="683419"/>
              <a:chOff x="6912769" y="4210050"/>
              <a:chExt cx="2370296" cy="68341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912769" y="421005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116681" y="266700"/>
                    </a:moveTo>
                    <a:lnTo>
                      <a:pt x="55842" y="223243"/>
                    </a:lnTo>
                    <a:cubicBezTo>
                      <a:pt x="20798" y="198211"/>
                      <a:pt x="0" y="157798"/>
                      <a:pt x="0" y="114732"/>
                    </a:cubicBez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114732"/>
                    </a:lnTo>
                    <a:cubicBezTo>
                      <a:pt x="233362" y="157798"/>
                      <a:pt x="212565" y="198211"/>
                      <a:pt x="177521" y="223243"/>
                    </a:cubicBezTo>
                    <a:lnTo>
                      <a:pt x="116681" y="266700"/>
                    </a:lnTo>
                    <a:close/>
                    <a:moveTo>
                      <a:pt x="186808" y="95130"/>
                    </a:moveTo>
                    <a:lnTo>
                      <a:pt x="163235" y="71557"/>
                    </a:lnTo>
                    <a:lnTo>
                      <a:pt x="100012" y="134780"/>
                    </a:lnTo>
                    <a:lnTo>
                      <a:pt x="70127" y="104895"/>
                    </a:lnTo>
                    <a:lnTo>
                      <a:pt x="46554" y="128468"/>
                    </a:lnTo>
                    <a:lnTo>
                      <a:pt x="100012" y="181926"/>
                    </a:lnTo>
                    <a:lnTo>
                      <a:pt x="186808" y="9513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261860" y="4271010"/>
                <a:ext cx="13370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把红线从"不崩"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264718" y="4523899"/>
                <a:ext cx="14843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升级为"自愈 + 可控"，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264718" y="4695349"/>
                <a:ext cx="2018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是产品能上生产的前置工程门槛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901464" y="5143500"/>
              <a:ext cx="2811940" cy="290512"/>
              <a:chOff x="6901464" y="5143500"/>
              <a:chExt cx="2811940" cy="29051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901464" y="5143500"/>
                <a:ext cx="25597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55972" h="266700">
                    <a:moveTo>
                      <a:pt x="102983" y="0"/>
                    </a:moveTo>
                    <a:lnTo>
                      <a:pt x="152989" y="0"/>
                    </a:lnTo>
                    <a:lnTo>
                      <a:pt x="162889" y="39596"/>
                    </a:lnTo>
                    <a:cubicBezTo>
                      <a:pt x="173452" y="43530"/>
                      <a:pt x="183171" y="49199"/>
                      <a:pt x="191699" y="56255"/>
                    </a:cubicBezTo>
                    <a:lnTo>
                      <a:pt x="230969" y="45022"/>
                    </a:lnTo>
                    <a:lnTo>
                      <a:pt x="255972" y="88328"/>
                    </a:lnTo>
                    <a:lnTo>
                      <a:pt x="226620" y="116709"/>
                    </a:lnTo>
                    <a:cubicBezTo>
                      <a:pt x="227527" y="122121"/>
                      <a:pt x="227998" y="127680"/>
                      <a:pt x="227998" y="133350"/>
                    </a:cubicBezTo>
                    <a:cubicBezTo>
                      <a:pt x="227998" y="139020"/>
                      <a:pt x="227527" y="144579"/>
                      <a:pt x="226620" y="149991"/>
                    </a:cubicBezTo>
                    <a:lnTo>
                      <a:pt x="255972" y="178372"/>
                    </a:lnTo>
                    <a:lnTo>
                      <a:pt x="230969" y="221678"/>
                    </a:lnTo>
                    <a:lnTo>
                      <a:pt x="191699" y="210445"/>
                    </a:lnTo>
                    <a:cubicBezTo>
                      <a:pt x="183171" y="217501"/>
                      <a:pt x="173452" y="223170"/>
                      <a:pt x="162889" y="227103"/>
                    </a:cubicBezTo>
                    <a:lnTo>
                      <a:pt x="152989" y="266700"/>
                    </a:lnTo>
                    <a:lnTo>
                      <a:pt x="102983" y="266700"/>
                    </a:lnTo>
                    <a:lnTo>
                      <a:pt x="93084" y="227103"/>
                    </a:lnTo>
                    <a:cubicBezTo>
                      <a:pt x="82521" y="223170"/>
                      <a:pt x="72801" y="217501"/>
                      <a:pt x="64273" y="210445"/>
                    </a:cubicBezTo>
                    <a:lnTo>
                      <a:pt x="25003" y="221678"/>
                    </a:lnTo>
                    <a:lnTo>
                      <a:pt x="0" y="178372"/>
                    </a:lnTo>
                    <a:lnTo>
                      <a:pt x="29352" y="149991"/>
                    </a:lnTo>
                    <a:cubicBezTo>
                      <a:pt x="28445" y="144579"/>
                      <a:pt x="27974" y="139020"/>
                      <a:pt x="27974" y="133350"/>
                    </a:cubicBezTo>
                    <a:cubicBezTo>
                      <a:pt x="27974" y="127680"/>
                      <a:pt x="28445" y="122121"/>
                      <a:pt x="29352" y="116709"/>
                    </a:cubicBezTo>
                    <a:lnTo>
                      <a:pt x="0" y="88328"/>
                    </a:lnTo>
                    <a:lnTo>
                      <a:pt x="25003" y="45022"/>
                    </a:lnTo>
                    <a:lnTo>
                      <a:pt x="64273" y="56255"/>
                    </a:lnTo>
                    <a:cubicBezTo>
                      <a:pt x="72801" y="49199"/>
                      <a:pt x="82520" y="43530"/>
                      <a:pt x="93084" y="39596"/>
                    </a:cubicBezTo>
                    <a:lnTo>
                      <a:pt x="102983" y="0"/>
                    </a:lnTo>
                    <a:close/>
                    <a:moveTo>
                      <a:pt x="127986" y="166688"/>
                    </a:moveTo>
                    <a:cubicBezTo>
                      <a:pt x="146398" y="166688"/>
                      <a:pt x="161323" y="151762"/>
                      <a:pt x="161323" y="133350"/>
                    </a:cubicBezTo>
                    <a:cubicBezTo>
                      <a:pt x="161323" y="114938"/>
                      <a:pt x="146398" y="100012"/>
                      <a:pt x="127986" y="100012"/>
                    </a:cubicBezTo>
                    <a:cubicBezTo>
                      <a:pt x="109574" y="100012"/>
                      <a:pt x="94649" y="114938"/>
                      <a:pt x="94649" y="133350"/>
                    </a:cubicBezTo>
                    <a:cubicBezTo>
                      <a:pt x="94649" y="151762"/>
                      <a:pt x="109574" y="166688"/>
                      <a:pt x="127986" y="166688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263765" y="5220652"/>
                <a:ext cx="24496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详见 tech-design-ql-selfheal.md</a:t>
                </a:r>
              </a:p>
            </p:txBody>
          </p:sp>
        </p:grpSp>
      </p:grpSp>
      <p:sp>
        <p:nvSpPr>
          <p:cNvPr id="68" name="Line 68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22922" y="6578441"/>
            <a:ext cx="26295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ADR-003 / ADR-004 · tech-design-ql-selfheal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C628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11699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62828"/>
                </a:solidFill>
                <a:latin typeface="Arial"/>
                <a:ea typeface="Microsoft YaHei"/>
                <a:cs typeface="Arial"/>
              </a:rPr>
              <a:t>08 · 核心创新 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6475060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优雅收尾：失败也交付"部分 RCA"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49536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失败 / 预算耗尽不抛 500、不静默、不臆测（ADR-005）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905000"/>
            <a:ext cx="5334000" cy="4000500"/>
            <a:chOff x="533400" y="1905000"/>
            <a:chExt cx="5334000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905000"/>
              <a:ext cx="5334000" cy="4000500"/>
            </a:xfrm>
            <a:prstGeom prst="roundRect">
              <a:avLst>
                <a:gd name="adj" fmla="val 1905"/>
              </a:avLst>
            </a:prstGeom>
            <a:solidFill>
              <a:srgbClr val="FFFFFF"/>
            </a:solidFill>
            <a:ln w="13335">
              <a:solidFill>
                <a:srgbClr val="C6282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905000"/>
              <a:ext cx="5334000" cy="571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665" y="2210752"/>
              <a:ext cx="2619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RISK · 真实生产不可避免的崩溃场景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1045" y="24698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三类典型失败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62000" y="3009900"/>
              <a:ext cx="2264759" cy="500062"/>
              <a:chOff x="762000" y="3009900"/>
              <a:chExt cx="2264759" cy="500062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300990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C62828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76912" y="3106102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03008" y="3062764"/>
                <a:ext cx="13228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QL 自修正耗尽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05865" y="3296602"/>
                <a:ext cx="18208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单 tool 重生成 3 次仍失败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62000" y="3581400"/>
              <a:ext cx="2252665" cy="500062"/>
              <a:chOff x="762000" y="3581400"/>
              <a:chExt cx="2252665" cy="500062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358140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C62828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56784" y="36776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03008" y="3634264"/>
                <a:ext cx="181165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后端持续 5xx / 超时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05865" y="386810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退避重试 2 次仍不可用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4152900"/>
              <a:ext cx="2510123" cy="500062"/>
              <a:chOff x="762000" y="4152900"/>
              <a:chExt cx="2510123" cy="500062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4152900"/>
                <a:ext cx="3048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C62828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56784" y="42491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03008" y="4205764"/>
                <a:ext cx="120553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会话预算耗尽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05865" y="4439602"/>
                <a:ext cx="20662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token / tool 次数 / 时长触顶</a:t>
                </a:r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762000" y="46482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294680"/>
                  </a:moveTo>
                  <a:lnTo>
                    <a:pt x="124420" y="419100"/>
                  </a:lnTo>
                  <a:lnTo>
                    <a:pt x="294680" y="419100"/>
                  </a:lnTo>
                  <a:lnTo>
                    <a:pt x="419100" y="294680"/>
                  </a:lnTo>
                  <a:lnTo>
                    <a:pt x="419100" y="124420"/>
                  </a:lnTo>
                  <a:lnTo>
                    <a:pt x="294680" y="0"/>
                  </a:lnTo>
                  <a:lnTo>
                    <a:pt x="124420" y="0"/>
                  </a:lnTo>
                  <a:lnTo>
                    <a:pt x="0" y="124420"/>
                  </a:lnTo>
                  <a:lnTo>
                    <a:pt x="0" y="294680"/>
                  </a:lnTo>
                  <a:close/>
                  <a:moveTo>
                    <a:pt x="183356" y="78581"/>
                  </a:moveTo>
                  <a:lnTo>
                    <a:pt x="183356" y="235744"/>
                  </a:lnTo>
                  <a:lnTo>
                    <a:pt x="235744" y="235744"/>
                  </a:lnTo>
                  <a:lnTo>
                    <a:pt x="235744" y="78581"/>
                  </a:lnTo>
                  <a:lnTo>
                    <a:pt x="183356" y="78581"/>
                  </a:lnTo>
                  <a:close/>
                  <a:moveTo>
                    <a:pt x="183356" y="288131"/>
                  </a:moveTo>
                  <a:lnTo>
                    <a:pt x="183356" y="340519"/>
                  </a:lnTo>
                  <a:lnTo>
                    <a:pt x="235744" y="340519"/>
                  </a:lnTo>
                  <a:lnTo>
                    <a:pt x="235744" y="288131"/>
                  </a:lnTo>
                  <a:lnTo>
                    <a:pt x="183356" y="28813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19212" y="4736306"/>
              <a:ext cx="24870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传统做法：抛 500 / 静默 / 臆测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1118" y="498109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用户拿不到结果 / 拿到错误结论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1118" y="517159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下次直接放弃 AI，回退 SRE 人工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3829050"/>
            <a:ext cx="457200" cy="114300"/>
            <a:chOff x="5905500" y="3829050"/>
            <a:chExt cx="457200" cy="114300"/>
          </a:xfrm>
        </p:grpSpPr>
        <p:sp>
          <p:nvSpPr>
            <p:cNvPr id="31" name="Line 31"/>
            <p:cNvSpPr/>
            <p:nvPr/>
          </p:nvSpPr>
          <p:spPr>
            <a:xfrm>
              <a:off x="5905500" y="38862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267450" y="38290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A6A6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477000" y="1905000"/>
            <a:ext cx="5181600" cy="4000500"/>
            <a:chOff x="6477000" y="1905000"/>
            <a:chExt cx="5181600" cy="4000500"/>
          </a:xfrm>
        </p:grpSpPr>
        <p:sp>
          <p:nvSpPr>
            <p:cNvPr id="34" name="Rectangle 34"/>
            <p:cNvSpPr/>
            <p:nvPr/>
          </p:nvSpPr>
          <p:spPr>
            <a:xfrm>
              <a:off x="6477000" y="1905000"/>
              <a:ext cx="5181600" cy="4000500"/>
            </a:xfrm>
            <a:prstGeom prst="roundRect">
              <a:avLst>
                <a:gd name="adj" fmla="val 1905"/>
              </a:avLst>
            </a:prstGeom>
            <a:solidFill>
              <a:srgbClr val="F4F6FA"/>
            </a:solidFill>
            <a:ln w="13335">
              <a:solidFill>
                <a:srgbClr val="00A6A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7000" y="1905000"/>
              <a:ext cx="5181600" cy="5715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92265" y="2210752"/>
              <a:ext cx="16851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HANDLING · 我们的处置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4645" y="2469832"/>
              <a:ext cx="26481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不崩 · 不静默 · 不臆测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705600" y="3009900"/>
              <a:ext cx="3810953" cy="511969"/>
              <a:chOff x="6705600" y="3009900"/>
              <a:chExt cx="3810953" cy="51196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05600" y="30099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211811" y="95130"/>
                    </a:moveTo>
                    <a:lnTo>
                      <a:pt x="188239" y="71557"/>
                    </a:lnTo>
                    <a:lnTo>
                      <a:pt x="108347" y="151449"/>
                    </a:lnTo>
                    <a:lnTo>
                      <a:pt x="78462" y="121563"/>
                    </a:lnTo>
                    <a:lnTo>
                      <a:pt x="54888" y="145137"/>
                    </a:lnTo>
                    <a:lnTo>
                      <a:pt x="108347" y="198595"/>
                    </a:lnTo>
                    <a:lnTo>
                      <a:pt x="211811" y="9513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71360" y="3070860"/>
                <a:ext cx="20455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不抛 500，绝不中断会话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074218" y="3323749"/>
                <a:ext cx="34423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即使所有工具都失败，前端也能拿到一份有结构的响应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705600" y="3600450"/>
              <a:ext cx="2814162" cy="511969"/>
              <a:chOff x="6705600" y="3600450"/>
              <a:chExt cx="2814162" cy="51196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05600" y="36004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211811" y="95130"/>
                    </a:moveTo>
                    <a:lnTo>
                      <a:pt x="188239" y="71557"/>
                    </a:lnTo>
                    <a:lnTo>
                      <a:pt x="108347" y="151449"/>
                    </a:lnTo>
                    <a:lnTo>
                      <a:pt x="78462" y="121563"/>
                    </a:lnTo>
                    <a:lnTo>
                      <a:pt x="54888" y="145137"/>
                    </a:lnTo>
                    <a:lnTo>
                      <a:pt x="108347" y="198595"/>
                    </a:lnTo>
                    <a:lnTo>
                      <a:pt x="211811" y="9513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071360" y="3661410"/>
                <a:ext cx="24319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用已收集证据生成"部分 RCA"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074218" y="3914299"/>
                <a:ext cx="24455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已查到的证据不浪费，组织至少能复用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705600" y="4191000"/>
              <a:ext cx="3561755" cy="511969"/>
              <a:chOff x="6705600" y="4191000"/>
              <a:chExt cx="3561755" cy="51196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05600" y="41910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211811" y="95130"/>
                    </a:moveTo>
                    <a:lnTo>
                      <a:pt x="188239" y="71557"/>
                    </a:lnTo>
                    <a:lnTo>
                      <a:pt x="108347" y="151449"/>
                    </a:lnTo>
                    <a:lnTo>
                      <a:pt x="78462" y="121563"/>
                    </a:lnTo>
                    <a:lnTo>
                      <a:pt x="54888" y="145137"/>
                    </a:lnTo>
                    <a:lnTo>
                      <a:pt x="108347" y="198595"/>
                    </a:lnTo>
                    <a:lnTo>
                      <a:pt x="211811" y="9513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071360" y="4251960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顶部显式标注证据缺口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74218" y="4504849"/>
                <a:ext cx="31931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"⚠ 本报告因预算/时间未能完成以下查询：[...]"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705600" y="4781550"/>
              <a:ext cx="3255598" cy="511969"/>
              <a:chOff x="6705600" y="4781550"/>
              <a:chExt cx="3255598" cy="511969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705600" y="47815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211811" y="95130"/>
                    </a:moveTo>
                    <a:lnTo>
                      <a:pt x="188239" y="71557"/>
                    </a:lnTo>
                    <a:lnTo>
                      <a:pt x="108347" y="151449"/>
                    </a:lnTo>
                    <a:lnTo>
                      <a:pt x="78462" y="121563"/>
                    </a:lnTo>
                    <a:lnTo>
                      <a:pt x="54888" y="145137"/>
                    </a:lnTo>
                    <a:lnTo>
                      <a:pt x="108347" y="198595"/>
                    </a:lnTo>
                    <a:lnTo>
                      <a:pt x="211811" y="9513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071360" y="4842510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诚实表达不确定性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74218" y="5095399"/>
                <a:ext cx="28869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比"假装查完实则臆测"建立更强的专业可信感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705600" y="5372100"/>
              <a:ext cx="4724400" cy="381000"/>
              <a:chOff x="6705600" y="5372100"/>
              <a:chExt cx="4724400" cy="381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705600" y="5372100"/>
                <a:ext cx="47244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7391932" y="5506402"/>
                <a:ext cx="33517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↳ 配合 D-5 / PM-2 置信度升级机制，形成闭环</a:t>
                </a:r>
              </a:p>
            </p:txBody>
          </p:sp>
        </p:grpSp>
      </p:grpSp>
      <p:sp>
        <p:nvSpPr>
          <p:cNvPr id="58" name="Line 58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22922" y="6578441"/>
            <a:ext cx="19427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ADR-005 · brainstorm D-5 / PM-2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11940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09 · 端到端演示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864870"/>
            <a:ext cx="725625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`payment-service 刚才为什么大量 500？`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54366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从用户提问到 RCA 报告的完整六步链路 · 每次排查的样本案例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36781" y="2066449"/>
            <a:ext cx="10513661" cy="1041082"/>
            <a:chOff x="536781" y="2066449"/>
            <a:chExt cx="10513661" cy="1041082"/>
          </a:xfrm>
        </p:grpSpPr>
        <p:sp>
          <p:nvSpPr>
            <p:cNvPr id="7" name="Line 7"/>
            <p:cNvSpPr/>
            <p:nvPr/>
          </p:nvSpPr>
          <p:spPr>
            <a:xfrm>
              <a:off x="1143000" y="2476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36781" y="2066449"/>
              <a:ext cx="1212437" cy="1041082"/>
              <a:chOff x="536781" y="2066449"/>
              <a:chExt cx="1212437" cy="1041082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009650" y="2343150"/>
                <a:ext cx="266700" cy="2667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08190" y="2418874"/>
                <a:ext cx="696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1580" y="20664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用户提问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6781" y="2760345"/>
                <a:ext cx="12124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"为什么大量 500？"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1540" y="29398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自然语言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624840" y="2066449"/>
              <a:ext cx="846320" cy="1041082"/>
              <a:chOff x="2624840" y="2066449"/>
              <a:chExt cx="846320" cy="1041082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2914650" y="2343150"/>
                <a:ext cx="266700" cy="2667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994500" y="2418874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740318" y="2066449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查 Mimir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11244" y="2760345"/>
                <a:ext cx="6735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5xx 错误率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24840" y="2939891"/>
                <a:ext cx="8463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PromQL · 指标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537377" y="2066449"/>
              <a:ext cx="831247" cy="1041082"/>
              <a:chOff x="4537377" y="2066449"/>
              <a:chExt cx="831247" cy="1041082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819650" y="2343150"/>
                <a:ext cx="266700" cy="2667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899500" y="2418874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16339" y="2066449"/>
                <a:ext cx="4733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异常窗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37377" y="2760345"/>
                <a:ext cx="8312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14:23 - 14:35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41294" y="2939891"/>
                <a:ext cx="6234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锁定时间窗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480024" y="2066449"/>
              <a:ext cx="755952" cy="1041082"/>
              <a:chOff x="6480024" y="2066449"/>
              <a:chExt cx="755952" cy="1041082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724650" y="2343150"/>
                <a:ext cx="266700" cy="2667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804500" y="2418874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02650" y="2066449"/>
                <a:ext cx="5107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查 Loki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83680" y="27603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异常堆栈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80024" y="2939891"/>
                <a:ext cx="75595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LogQL · 日志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318754" y="2066449"/>
              <a:ext cx="888492" cy="1041082"/>
              <a:chOff x="8318754" y="2066449"/>
              <a:chExt cx="888492" cy="1041082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8629650" y="2343150"/>
                <a:ext cx="266700" cy="2667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709500" y="2418874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432890" y="2066449"/>
                <a:ext cx="6602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查 Tempo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429530" y="2760345"/>
                <a:ext cx="6669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慢 TraceID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18754" y="2939891"/>
                <a:ext cx="8884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TraceQL · 链路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0285559" y="2066449"/>
              <a:ext cx="764883" cy="1041082"/>
              <a:chOff x="10285559" y="2066449"/>
              <a:chExt cx="764883" cy="1041082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0534650" y="2343150"/>
                <a:ext cx="266700" cy="266700"/>
              </a:xfrm>
              <a:prstGeom prst="ellipse">
                <a:avLst/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0614500" y="2418874"/>
                <a:ext cx="1070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6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285559" y="2066449"/>
                <a:ext cx="7648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结构化 RCA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393680" y="27603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报告输出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368344" y="2939891"/>
                <a:ext cx="5993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Markdown</a:t>
                </a: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1333500" y="247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3335">
              <a:solidFill>
                <a:srgbClr val="0F2A44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3238500" y="247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3335">
              <a:solidFill>
                <a:srgbClr val="0F2A44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5143500" y="247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3335">
              <a:solidFill>
                <a:srgbClr val="0F2A4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048500" y="247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3335">
              <a:solidFill>
                <a:srgbClr val="0F2A4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953500" y="2476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3335">
              <a:solidFill>
                <a:srgbClr val="0F2A44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143000" y="2794000"/>
            <a:ext cx="9906000" cy="1320800"/>
            <a:chOff x="1143000" y="2794000"/>
            <a:chExt cx="9906000" cy="1320800"/>
          </a:xfrm>
        </p:grpSpPr>
        <p:sp>
          <p:nvSpPr>
            <p:cNvPr id="50" name="Freeform 50"/>
            <p:cNvSpPr/>
            <p:nvPr/>
          </p:nvSpPr>
          <p:spPr>
            <a:xfrm>
              <a:off x="1143000" y="3302000"/>
              <a:ext cx="9906000" cy="254000"/>
            </a:xfrm>
            <a:custGeom>
              <a:avLst/>
              <a:gdLst/>
              <a:ahLst/>
              <a:cxnLst/>
              <a:rect l="l" t="t" r="r" b="b"/>
              <a:pathLst>
                <a:path w="9906000" h="254000">
                  <a:moveTo>
                    <a:pt x="0" y="127000"/>
                  </a:moveTo>
                  <a:cubicBezTo>
                    <a:pt x="508000" y="0"/>
                    <a:pt x="1016000" y="0"/>
                    <a:pt x="1524000" y="127000"/>
                  </a:cubicBezTo>
                  <a:cubicBezTo>
                    <a:pt x="2032000" y="254000"/>
                    <a:pt x="2540000" y="254000"/>
                    <a:pt x="3048000" y="127000"/>
                  </a:cubicBezTo>
                  <a:cubicBezTo>
                    <a:pt x="3556000" y="0"/>
                    <a:pt x="4064000" y="0"/>
                    <a:pt x="4572000" y="127000"/>
                  </a:cubicBezTo>
                  <a:cubicBezTo>
                    <a:pt x="5080000" y="254000"/>
                    <a:pt x="5588000" y="254000"/>
                    <a:pt x="6096000" y="127000"/>
                  </a:cubicBezTo>
                  <a:cubicBezTo>
                    <a:pt x="6604000" y="0"/>
                    <a:pt x="7112000" y="0"/>
                    <a:pt x="7620000" y="127000"/>
                  </a:cubicBezTo>
                  <a:cubicBezTo>
                    <a:pt x="8128000" y="254000"/>
                    <a:pt x="8636000" y="254000"/>
                    <a:pt x="9144000" y="127000"/>
                  </a:cubicBezTo>
                  <a:cubicBezTo>
                    <a:pt x="9652000" y="0"/>
                    <a:pt x="9906000" y="0"/>
                    <a:pt x="9906000" y="127000"/>
                  </a:cubicBezTo>
                </a:path>
              </a:pathLst>
            </a:custGeom>
            <a:noFill/>
            <a:ln w="13335">
              <a:solidFill>
                <a:srgbClr val="00A6A6">
                  <a:alpha val="60000"/>
                </a:srgbClr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143000" y="2794000"/>
              <a:ext cx="9906000" cy="1320800"/>
            </a:xfrm>
            <a:custGeom>
              <a:avLst/>
              <a:gdLst/>
              <a:ahLst/>
              <a:cxnLst/>
              <a:rect l="l" t="t" r="r" b="b"/>
              <a:pathLst>
                <a:path w="9906000" h="1320800">
                  <a:moveTo>
                    <a:pt x="0" y="787400"/>
                  </a:moveTo>
                  <a:cubicBezTo>
                    <a:pt x="508000" y="685800"/>
                    <a:pt x="1016000" y="698500"/>
                    <a:pt x="1524000" y="825500"/>
                  </a:cubicBezTo>
                  <a:cubicBezTo>
                    <a:pt x="2032000" y="952500"/>
                    <a:pt x="2540000" y="927100"/>
                    <a:pt x="3048000" y="749300"/>
                  </a:cubicBezTo>
                  <a:cubicBezTo>
                    <a:pt x="3556000" y="571500"/>
                    <a:pt x="4064000" y="615950"/>
                    <a:pt x="4572000" y="882650"/>
                  </a:cubicBezTo>
                  <a:cubicBezTo>
                    <a:pt x="5080000" y="1149350"/>
                    <a:pt x="5588000" y="1066800"/>
                    <a:pt x="6096000" y="635000"/>
                  </a:cubicBezTo>
                  <a:cubicBezTo>
                    <a:pt x="6604000" y="203200"/>
                    <a:pt x="7112000" y="254000"/>
                    <a:pt x="7620000" y="787400"/>
                  </a:cubicBezTo>
                  <a:cubicBezTo>
                    <a:pt x="8128000" y="1320800"/>
                    <a:pt x="8636000" y="1270000"/>
                    <a:pt x="9144000" y="635000"/>
                  </a:cubicBezTo>
                  <a:cubicBezTo>
                    <a:pt x="9652000" y="0"/>
                    <a:pt x="9906000" y="63500"/>
                    <a:pt x="9906000" y="825500"/>
                  </a:cubicBezTo>
                </a:path>
              </a:pathLst>
            </a:custGeom>
            <a:noFill/>
            <a:ln w="9525">
              <a:solidFill>
                <a:srgbClr val="4A6FA5">
                  <a:alpha val="50000"/>
                </a:srgbClr>
              </a:solidFill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533400" y="3924300"/>
            <a:ext cx="11125200" cy="2362200"/>
            <a:chOff x="533400" y="3924300"/>
            <a:chExt cx="11125200" cy="2362200"/>
          </a:xfrm>
        </p:grpSpPr>
        <p:sp>
          <p:nvSpPr>
            <p:cNvPr id="53" name="Rectangle 53"/>
            <p:cNvSpPr/>
            <p:nvPr/>
          </p:nvSpPr>
          <p:spPr>
            <a:xfrm>
              <a:off x="533400" y="3924300"/>
              <a:ext cx="11125200" cy="2362200"/>
            </a:xfrm>
            <a:prstGeom prst="roundRect">
              <a:avLst>
                <a:gd name="adj" fmla="val 3226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8665" y="4134802"/>
              <a:ext cx="984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RCA 报告结构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9618" y="4352449"/>
              <a:ext cx="36559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由 RCA Generator 基于已收集证据生成，结构稳定可下钻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62000" y="45529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62000" y="4743450"/>
              <a:ext cx="2571750" cy="1352550"/>
              <a:chOff x="762000" y="4743450"/>
              <a:chExt cx="2571750" cy="13525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762000" y="4743450"/>
                <a:ext cx="2571750" cy="1352550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902018" y="4904899"/>
                <a:ext cx="8994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A44"/>
                    </a:solidFill>
                    <a:latin typeface="Consolas"/>
                    <a:ea typeface="Microsoft YaHei"/>
                    <a:cs typeface="Consolas"/>
                  </a:rPr>
                  <a:t># 服务与问题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02970" y="5179695"/>
                <a:ext cx="110070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payment-service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02970" y="5370195"/>
                <a:ext cx="11335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14:23 - 14:35 区间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02970" y="5560695"/>
                <a:ext cx="10021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5xx 错误率 8.3%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03922" y="5797391"/>
                <a:ext cx="12258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服务范围 · 异常窗口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524250" y="4743450"/>
              <a:ext cx="2571750" cy="1352550"/>
              <a:chOff x="3524250" y="4743450"/>
              <a:chExt cx="2571750" cy="135255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3524250" y="4743450"/>
                <a:ext cx="2571750" cy="1352550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3664268" y="4904899"/>
                <a:ext cx="6826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A44"/>
                    </a:solidFill>
                    <a:latin typeface="Consolas"/>
                    <a:ea typeface="Microsoft YaHei"/>
                    <a:cs typeface="Consolas"/>
                  </a:rPr>
                  <a:t>## 时间线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665220" y="5179695"/>
                <a:ext cx="131102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14:23 错误率突破阈值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665220" y="5370195"/>
                <a:ext cx="13438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14:25 第一条 5xx 出现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3665220" y="5560695"/>
                <a:ext cx="14096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14:31 数据库连接池耗尽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3666172" y="5797391"/>
                <a:ext cx="108730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时间戳化的事件流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6286500" y="4743450"/>
              <a:ext cx="2571750" cy="1352550"/>
              <a:chOff x="6286500" y="4743450"/>
              <a:chExt cx="2571750" cy="135255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6286500" y="4743450"/>
                <a:ext cx="2571750" cy="1352550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6426518" y="4904899"/>
                <a:ext cx="5331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A44"/>
                    </a:solidFill>
                    <a:latin typeface="Consolas"/>
                    <a:ea typeface="Microsoft YaHei"/>
                    <a:cs typeface="Consolas"/>
                  </a:rPr>
                  <a:t>## 证据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427470" y="5179695"/>
                <a:ext cx="16593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Metrics: error_rate 波形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427470" y="5370195"/>
                <a:ext cx="20208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Logs: ConnectionPoolExhausted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427470" y="5560695"/>
                <a:ext cx="16067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Trace: 8f3a… 慢 SQL 1.8s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428422" y="5797391"/>
                <a:ext cx="9668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三方证据可下钻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9048750" y="4743450"/>
              <a:ext cx="2381250" cy="1352550"/>
              <a:chOff x="9048750" y="4743450"/>
              <a:chExt cx="2381250" cy="13525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9048750" y="4743450"/>
                <a:ext cx="2381250" cy="1352550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188768" y="4904899"/>
                <a:ext cx="1303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F2A44"/>
                    </a:solidFill>
                    <a:latin typeface="Consolas"/>
                    <a:ea typeface="Microsoft YaHei"/>
                    <a:cs typeface="Consolas"/>
                  </a:rPr>
                  <a:t>## 根因 + 修复建议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189720" y="5179695"/>
                <a:ext cx="13373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根因：连接池上限过低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189720" y="537019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建议：扩容至 200 或限流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189720" y="55606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置信度：高（证据闭环）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190672" y="5797391"/>
                <a:ext cx="13282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→ 给人执行，不自动处置</a:t>
                </a:r>
              </a:p>
            </p:txBody>
          </p:sp>
        </p:grpSp>
      </p:grpSp>
      <p:sp>
        <p:nvSpPr>
          <p:cNvPr id="86" name="Line 86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522922" y="6578441"/>
            <a:ext cx="2388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示例数据为示意，来源：PRD §5 / §7 Task 3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208329" y="657844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2" grpId="0"/>
      <p:bldP spid="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10 · 技术栈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6517616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轻量 · 原生 · 可演进（ADR-006）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50620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与 ADR-001 一致：拒绝臃肿框架；强类型 + 异步 + 云原生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33400" y="1866900"/>
            <a:ext cx="11161576" cy="533400"/>
            <a:chOff x="533400" y="1866900"/>
            <a:chExt cx="11161576" cy="5334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866900"/>
              <a:ext cx="2667000" cy="533400"/>
              <a:chOff x="533400" y="1866900"/>
              <a:chExt cx="2667000" cy="533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866900"/>
                <a:ext cx="26670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52475" y="201930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100012" y="100012"/>
                    </a:moveTo>
                    <a:lnTo>
                      <a:pt x="114300" y="0"/>
                    </a:lnTo>
                    <a:lnTo>
                      <a:pt x="85725" y="0"/>
                    </a:lnTo>
                    <a:lnTo>
                      <a:pt x="0" y="100012"/>
                    </a:lnTo>
                    <a:lnTo>
                      <a:pt x="0" y="128588"/>
                    </a:lnTo>
                    <a:lnTo>
                      <a:pt x="71438" y="128588"/>
                    </a:lnTo>
                    <a:lnTo>
                      <a:pt x="57150" y="228600"/>
                    </a:lnTo>
                    <a:lnTo>
                      <a:pt x="85725" y="228600"/>
                    </a:lnTo>
                    <a:lnTo>
                      <a:pt x="171450" y="128588"/>
                    </a:lnTo>
                    <a:lnTo>
                      <a:pt x="171450" y="100012"/>
                    </a:lnTo>
                    <a:lnTo>
                      <a:pt x="100012" y="100012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50608" y="2053114"/>
                <a:ext cx="20071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异步优先 async-first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314700" y="1866900"/>
              <a:ext cx="2667000" cy="533400"/>
              <a:chOff x="3314700" y="1866900"/>
              <a:chExt cx="2667000" cy="533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314700" y="1866900"/>
                <a:ext cx="26670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519488" y="20335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0"/>
                    </a:lnTo>
                    <a:close/>
                    <a:moveTo>
                      <a:pt x="71438" y="57150"/>
                    </a:moveTo>
                    <a:lnTo>
                      <a:pt x="91643" y="77356"/>
                    </a:lnTo>
                    <a:lnTo>
                      <a:pt x="68986" y="100012"/>
                    </a:lnTo>
                    <a:lnTo>
                      <a:pt x="91643" y="122669"/>
                    </a:lnTo>
                    <a:lnTo>
                      <a:pt x="71438" y="142875"/>
                    </a:lnTo>
                    <a:lnTo>
                      <a:pt x="28575" y="100012"/>
                    </a:lnTo>
                    <a:lnTo>
                      <a:pt x="71438" y="57150"/>
                    </a:lnTo>
                    <a:close/>
                    <a:moveTo>
                      <a:pt x="128588" y="57150"/>
                    </a:moveTo>
                    <a:lnTo>
                      <a:pt x="108382" y="77356"/>
                    </a:lnTo>
                    <a:lnTo>
                      <a:pt x="131039" y="100012"/>
                    </a:lnTo>
                    <a:lnTo>
                      <a:pt x="108382" y="122669"/>
                    </a:lnTo>
                    <a:lnTo>
                      <a:pt x="128588" y="142875"/>
                    </a:lnTo>
                    <a:lnTo>
                      <a:pt x="171450" y="100012"/>
                    </a:lnTo>
                    <a:lnTo>
                      <a:pt x="128588" y="57150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831908" y="2053114"/>
                <a:ext cx="176277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强类型 · mypy 开启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096000" y="1866900"/>
              <a:ext cx="2667000" cy="533400"/>
              <a:chOff x="6096000" y="1866900"/>
              <a:chExt cx="2667000" cy="533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096000" y="1866900"/>
                <a:ext cx="26670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6286500" y="2047875"/>
                <a:ext cx="228600" cy="171451"/>
                <a:chOff x="6286500" y="2047875"/>
                <a:chExt cx="228600" cy="17145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6286500" y="2047875"/>
                  <a:ext cx="2286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1438">
                      <a:moveTo>
                        <a:pt x="228600" y="0"/>
                      </a:moveTo>
                      <a:lnTo>
                        <a:pt x="0" y="0"/>
                      </a:lnTo>
                      <a:lnTo>
                        <a:pt x="0" y="71438"/>
                      </a:lnTo>
                      <a:lnTo>
                        <a:pt x="228600" y="71438"/>
                      </a:lnTo>
                      <a:lnTo>
                        <a:pt x="228600" y="0"/>
                      </a:lnTo>
                      <a:close/>
                      <a:moveTo>
                        <a:pt x="57150" y="35719"/>
                      </a:moveTo>
                      <a:cubicBezTo>
                        <a:pt x="57150" y="43609"/>
                        <a:pt x="50753" y="50006"/>
                        <a:pt x="42862" y="50006"/>
                      </a:cubicBezTo>
                      <a:cubicBezTo>
                        <a:pt x="34972" y="50006"/>
                        <a:pt x="28575" y="43609"/>
                        <a:pt x="28575" y="35719"/>
                      </a:cubicBezTo>
                      <a:cubicBezTo>
                        <a:pt x="28575" y="27828"/>
                        <a:pt x="34972" y="21431"/>
                        <a:pt x="42862" y="21431"/>
                      </a:cubicBezTo>
                      <a:cubicBezTo>
                        <a:pt x="50753" y="21431"/>
                        <a:pt x="57150" y="27828"/>
                        <a:pt x="57150" y="35719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6286500" y="2147888"/>
                  <a:ext cx="228600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1438">
                      <a:moveTo>
                        <a:pt x="228600" y="0"/>
                      </a:moveTo>
                      <a:lnTo>
                        <a:pt x="0" y="0"/>
                      </a:lnTo>
                      <a:lnTo>
                        <a:pt x="0" y="71438"/>
                      </a:lnTo>
                      <a:lnTo>
                        <a:pt x="228600" y="71438"/>
                      </a:lnTo>
                      <a:lnTo>
                        <a:pt x="228600" y="0"/>
                      </a:lnTo>
                      <a:close/>
                      <a:moveTo>
                        <a:pt x="42862" y="50006"/>
                      </a:moveTo>
                      <a:cubicBezTo>
                        <a:pt x="50753" y="50006"/>
                        <a:pt x="57150" y="43610"/>
                        <a:pt x="57150" y="35719"/>
                      </a:cubicBezTo>
                      <a:cubicBezTo>
                        <a:pt x="57150" y="27828"/>
                        <a:pt x="50753" y="21431"/>
                        <a:pt x="42862" y="21431"/>
                      </a:cubicBezTo>
                      <a:cubicBezTo>
                        <a:pt x="34972" y="21431"/>
                        <a:pt x="28575" y="27828"/>
                        <a:pt x="28575" y="35719"/>
                      </a:cubicBezTo>
                      <a:cubicBezTo>
                        <a:pt x="28575" y="43610"/>
                        <a:pt x="34972" y="50006"/>
                        <a:pt x="42862" y="50006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6613208" y="2053114"/>
                <a:ext cx="143038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无状态 · 云原生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877300" y="1866900"/>
              <a:ext cx="2817676" cy="533400"/>
              <a:chOff x="8877300" y="1866900"/>
              <a:chExt cx="2817676" cy="5334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877300" y="1866900"/>
                <a:ext cx="2781300" cy="533400"/>
              </a:xfrm>
              <a:prstGeom prst="roundRect">
                <a:avLst>
                  <a:gd name="adj" fmla="val 10714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067800" y="2019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78581"/>
                    </a:moveTo>
                    <a:cubicBezTo>
                      <a:pt x="228600" y="121981"/>
                      <a:pt x="193418" y="157162"/>
                      <a:pt x="150019" y="157162"/>
                    </a:cubicBezTo>
                    <a:lnTo>
                      <a:pt x="100012" y="157162"/>
                    </a:lnTo>
                    <a:lnTo>
                      <a:pt x="100012" y="185738"/>
                    </a:lnTo>
                    <a:lnTo>
                      <a:pt x="71438" y="185738"/>
                    </a:lnTo>
                    <a:lnTo>
                      <a:pt x="71438" y="214312"/>
                    </a:lnTo>
                    <a:lnTo>
                      <a:pt x="57150" y="228600"/>
                    </a:lnTo>
                    <a:lnTo>
                      <a:pt x="0" y="228600"/>
                    </a:lnTo>
                    <a:lnTo>
                      <a:pt x="0" y="171450"/>
                    </a:lnTo>
                    <a:lnTo>
                      <a:pt x="73774" y="97676"/>
                    </a:lnTo>
                    <a:cubicBezTo>
                      <a:pt x="72248" y="91563"/>
                      <a:pt x="71438" y="85167"/>
                      <a:pt x="71438" y="78581"/>
                    </a:cubicBezTo>
                    <a:cubicBezTo>
                      <a:pt x="71438" y="35182"/>
                      <a:pt x="106619" y="0"/>
                      <a:pt x="150019" y="0"/>
                    </a:cubicBezTo>
                    <a:cubicBezTo>
                      <a:pt x="193418" y="0"/>
                      <a:pt x="228600" y="35182"/>
                      <a:pt x="228600" y="78581"/>
                    </a:cubicBezTo>
                    <a:close/>
                    <a:moveTo>
                      <a:pt x="185738" y="57150"/>
                    </a:moveTo>
                    <a:cubicBezTo>
                      <a:pt x="185738" y="65041"/>
                      <a:pt x="179341" y="71438"/>
                      <a:pt x="171450" y="71438"/>
                    </a:cubicBezTo>
                    <a:cubicBezTo>
                      <a:pt x="163559" y="71438"/>
                      <a:pt x="157162" y="65041"/>
                      <a:pt x="157162" y="57150"/>
                    </a:cubicBezTo>
                    <a:cubicBezTo>
                      <a:pt x="157162" y="49259"/>
                      <a:pt x="163559" y="42862"/>
                      <a:pt x="171450" y="42862"/>
                    </a:cubicBezTo>
                    <a:cubicBezTo>
                      <a:pt x="179341" y="42862"/>
                      <a:pt x="185738" y="49259"/>
                      <a:pt x="185738" y="57150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94508" y="2053114"/>
                <a:ext cx="230046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Pydantic Schema → tools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33400" y="2743200"/>
            <a:ext cx="5562600" cy="3238500"/>
            <a:chOff x="533400" y="2743200"/>
            <a:chExt cx="5562600" cy="3238500"/>
          </a:xfrm>
        </p:grpSpPr>
        <p:sp>
          <p:nvSpPr>
            <p:cNvPr id="26" name="Rectangle 26"/>
            <p:cNvSpPr/>
            <p:nvPr/>
          </p:nvSpPr>
          <p:spPr>
            <a:xfrm>
              <a:off x="533400" y="2743200"/>
              <a:ext cx="5562600" cy="3238500"/>
            </a:xfrm>
            <a:prstGeom prst="roundRect">
              <a:avLst>
                <a:gd name="adj" fmla="val 2353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743200"/>
              <a:ext cx="57150" cy="3238500"/>
            </a:xfrm>
            <a:prstGeom prst="rect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6765" y="2972752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BACKEND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9145" y="3212782"/>
              <a:ext cx="26481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Python 3.12 + FastAPI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7718" y="3533299"/>
              <a:ext cx="24740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Agent 推理与函数调用 · 工具统一契约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00100" y="3867150"/>
              <a:ext cx="1905000" cy="381000"/>
              <a:chOff x="800100" y="3867150"/>
              <a:chExt cx="19050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00100" y="3867150"/>
                <a:ext cx="1905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427774" y="3983831"/>
                <a:ext cx="64965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FastAPI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819400" y="3867150"/>
              <a:ext cx="1905000" cy="381000"/>
              <a:chOff x="2819400" y="3867150"/>
              <a:chExt cx="1905000" cy="381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2819400" y="3867150"/>
                <a:ext cx="1905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278865" y="3983831"/>
                <a:ext cx="9860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Pydantic v2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00100" y="4381500"/>
              <a:ext cx="1905000" cy="381000"/>
              <a:chOff x="800100" y="4381500"/>
              <a:chExt cx="1905000" cy="381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00100" y="4381500"/>
                <a:ext cx="1905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43113" y="4498181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HTTPX (async)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819400" y="4381500"/>
              <a:ext cx="1905000" cy="381000"/>
              <a:chOff x="2819400" y="4381500"/>
              <a:chExt cx="1905000" cy="381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2819400" y="4381500"/>
                <a:ext cx="1905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326309" y="4498181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openai SDK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00100" y="4895850"/>
              <a:ext cx="3924300" cy="381000"/>
              <a:chOff x="800100" y="4895850"/>
              <a:chExt cx="3924300" cy="381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00100" y="4895850"/>
                <a:ext cx="39243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00A6A6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984555" y="5012531"/>
                <a:ext cx="15553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pydantic-settings</a:t>
                </a:r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787718" y="5495449"/>
              <a:ext cx="49802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目录：app/main.py · app/api/chat.py · app/agent/loop.py · app/tools/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718" y="5685949"/>
              <a:ext cx="41828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拒绝 LangChain · 直接 tool_calls · SafeToolExecutor 四层包装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324600" y="2743200"/>
            <a:ext cx="5334000" cy="3238500"/>
            <a:chOff x="6324600" y="2743200"/>
            <a:chExt cx="5334000" cy="3238500"/>
          </a:xfrm>
        </p:grpSpPr>
        <p:sp>
          <p:nvSpPr>
            <p:cNvPr id="49" name="Rectangle 49"/>
            <p:cNvSpPr/>
            <p:nvPr/>
          </p:nvSpPr>
          <p:spPr>
            <a:xfrm>
              <a:off x="6324600" y="2743200"/>
              <a:ext cx="5334000" cy="3238500"/>
            </a:xfrm>
            <a:prstGeom prst="roundRect">
              <a:avLst>
                <a:gd name="adj" fmla="val 2353"/>
              </a:avLst>
            </a:prstGeom>
            <a:solidFill>
              <a:srgbClr val="F4F6FA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24600" y="2743200"/>
              <a:ext cx="57150" cy="3238500"/>
            </a:xfrm>
            <a:prstGeom prst="rect">
              <a:avLst/>
            </a:prstGeom>
            <a:solidFill>
              <a:srgbClr val="4A6FA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77965" y="2972752"/>
              <a:ext cx="7673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A6FA5"/>
                  </a:solidFill>
                  <a:latin typeface="Arial"/>
                  <a:ea typeface="Microsoft YaHei"/>
                  <a:cs typeface="Arial"/>
                </a:rPr>
                <a:t>FRONTEND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70345" y="3212782"/>
              <a:ext cx="26354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Next.js (App Router)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78918" y="3533299"/>
              <a:ext cx="29297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对话界面 · 实时时间线 · Markdown 报告渲染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6591300" y="3867150"/>
              <a:ext cx="2095500" cy="381000"/>
              <a:chOff x="6591300" y="3867150"/>
              <a:chExt cx="2095500" cy="381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591300" y="3867150"/>
                <a:ext cx="2095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4A6FA5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35476" y="3983831"/>
                <a:ext cx="16071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Next.js App Router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591300" y="4381500"/>
              <a:ext cx="2095500" cy="381000"/>
              <a:chOff x="6591300" y="4381500"/>
              <a:chExt cx="2095500" cy="3810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591300" y="4381500"/>
                <a:ext cx="20955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4A6FA5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124450" y="4498181"/>
                <a:ext cx="102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Tailwind CSS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801100" y="3867150"/>
              <a:ext cx="2286000" cy="381000"/>
              <a:chOff x="8801100" y="3867150"/>
              <a:chExt cx="2286000" cy="3810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8801100" y="3867150"/>
                <a:ext cx="2286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4A6FA5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252665" y="3983831"/>
                <a:ext cx="13828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React Markdown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801100" y="4381500"/>
              <a:ext cx="2286000" cy="381000"/>
              <a:chOff x="8801100" y="4381500"/>
              <a:chExt cx="2286000" cy="3810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8801100" y="4381500"/>
                <a:ext cx="22860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4A6FA5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330300" y="4498181"/>
                <a:ext cx="1227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SSE 流式客户端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6591300" y="4895850"/>
              <a:ext cx="4495800" cy="381000"/>
              <a:chOff x="6591300" y="4895850"/>
              <a:chExt cx="4495800" cy="3810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6591300" y="4895850"/>
                <a:ext cx="44958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4A6FA5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311036" y="5012531"/>
                <a:ext cx="30563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证据可下钻 Timeline · 可分享 RCA 链接</a:t>
                </a:r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6578918" y="5495449"/>
              <a:ext cx="3214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极简交互界面 · Chat Input / Timeline / RCA View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78918" y="5685949"/>
              <a:ext cx="28442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D-1 信任优先的证据可下钻 · D-2 对话式追问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1018" y="6096000"/>
            <a:ext cx="11137582" cy="264319"/>
            <a:chOff x="521018" y="6096000"/>
            <a:chExt cx="11137582" cy="264319"/>
          </a:xfrm>
        </p:grpSpPr>
        <p:sp>
          <p:nvSpPr>
            <p:cNvPr id="72" name="Rectangle 72"/>
            <p:cNvSpPr/>
            <p:nvPr/>
          </p:nvSpPr>
          <p:spPr>
            <a:xfrm>
              <a:off x="533400" y="6096000"/>
              <a:ext cx="11125200" cy="209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1018" y="6162199"/>
              <a:ext cx="3855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B7E"/>
                  </a:solidFill>
                  <a:latin typeface="Arial"/>
                  <a:ea typeface="Microsoft YaHei"/>
                  <a:cs typeface="Arial"/>
                </a:rPr>
                <a:t>无状态 · 云原生 · 易部署到私有数据中心 · 与 MCP 演进对齐</a:t>
              </a:r>
            </a:p>
          </p:txBody>
        </p:sp>
      </p:grpSp>
      <p:sp>
        <p:nvSpPr>
          <p:cNvPr id="75" name="Line 75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522922" y="6578441"/>
            <a:ext cx="990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ADR-006 · PRD §6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238452" y="6578441"/>
            <a:ext cx="4306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8" grpId="0"/>
      <p:bldP spid="71" grpId="0"/>
      <p:bldP spid="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57200"/>
            <a:ext cx="57150" cy="304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91515" y="572452"/>
            <a:ext cx="1467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11 · Roadmap &amp; 风险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158" y="824389"/>
            <a:ext cx="7134668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0F2A44"/>
                </a:solidFill>
                <a:latin typeface="Arial"/>
                <a:ea typeface="Microsoft YaHei"/>
                <a:cs typeface="Arial"/>
              </a:rPr>
              <a:t>从 MVP 到 MCP：阶段路线与前置风险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6255" y="1340168"/>
            <a:ext cx="58014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每个阶段都回答"为什么是这一步" · 不在信任未建立前开放写权限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0065" y="1867852"/>
            <a:ext cx="11138535" cy="1106329"/>
            <a:chOff x="520065" y="1867852"/>
            <a:chExt cx="11138535" cy="1106329"/>
          </a:xfrm>
        </p:grpSpPr>
        <p:sp>
          <p:nvSpPr>
            <p:cNvPr id="7" name="TextBox 7"/>
            <p:cNvSpPr txBox="1"/>
            <p:nvPr/>
          </p:nvSpPr>
          <p:spPr>
            <a:xfrm>
              <a:off x="520065" y="18678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阶段路线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20764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533400" y="2305050"/>
              <a:ext cx="2783562" cy="669131"/>
              <a:chOff x="533400" y="2305050"/>
              <a:chExt cx="2783562" cy="669131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33400" y="2305050"/>
                <a:ext cx="22098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70560" y="2423160"/>
                <a:ext cx="78497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V1.0 MVP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4370" y="2665095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本季度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5322" y="2806541"/>
                <a:ext cx="264164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6F4F4"/>
                    </a:solidFill>
                    <a:latin typeface="Arial"/>
                    <a:ea typeface="Microsoft YaHei"/>
                    <a:cs typeface="Arial"/>
                  </a:rPr>
                  <a:t>原生 Tool-Calling · SafeToolExecutor · 三工具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971800" y="2305050"/>
              <a:ext cx="2361842" cy="669131"/>
              <a:chOff x="2971800" y="2305050"/>
              <a:chExt cx="2361842" cy="669131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971800" y="2305050"/>
                <a:ext cx="22098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4A6FA5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108960" y="2423160"/>
                <a:ext cx="3433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V1.1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112770" y="2665095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次季度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113722" y="2806541"/>
                <a:ext cx="2219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RCA 知识库 · 黄金路径剧本 · 证据可下钻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410200" y="2305050"/>
              <a:ext cx="2667000" cy="669131"/>
              <a:chOff x="5410200" y="2305050"/>
              <a:chExt cx="2667000" cy="669131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410200" y="2305050"/>
                <a:ext cx="26670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0F2A44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547360" y="2423160"/>
                <a:ext cx="4353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V2.0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551170" y="2665095"/>
                <a:ext cx="3580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半年+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552122" y="2806541"/>
                <a:ext cx="247897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置信度升级机制 · MCP/GOAP 迁移 · 多源工具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305800" y="2305050"/>
              <a:ext cx="2819400" cy="669131"/>
              <a:chOff x="8305800" y="2305050"/>
              <a:chExt cx="2819400" cy="669131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305800" y="2305050"/>
                <a:ext cx="2819400" cy="647700"/>
              </a:xfrm>
              <a:prstGeom prst="roundRect">
                <a:avLst>
                  <a:gd name="adj" fmla="val 5882"/>
                </a:avLst>
              </a:prstGeom>
              <a:solidFill>
                <a:srgbClr val="FFFFFF"/>
              </a:solidFill>
              <a:ln w="13335">
                <a:solidFill>
                  <a:srgbClr val="C62828"/>
                </a:solidFill>
                <a:custDash>
                  <a:ds d="428571" sp="285714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442960" y="2423160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62828"/>
                    </a:solidFill>
                    <a:latin typeface="Arial"/>
                    <a:ea typeface="Microsoft YaHei"/>
                    <a:cs typeface="Arial"/>
                  </a:rPr>
                  <a:t>远期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446770" y="2665095"/>
                <a:ext cx="2125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处置类操作（仅在以下前提满足时）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47722" y="2806541"/>
                <a:ext cx="22078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896A6"/>
                    </a:solidFill>
                    <a:latin typeface="Arial"/>
                    <a:ea typeface="Microsoft YaHei"/>
                    <a:cs typeface="Arial"/>
                  </a:rPr>
                  <a:t>前置：置信度体系 + 人工闸门 + ADR-005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2743200" y="26289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5181600" y="26289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0F2A44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8077200" y="26289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prstDash val="dash"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20065" y="3220402"/>
            <a:ext cx="4111371" cy="956310"/>
            <a:chOff x="520065" y="3220402"/>
            <a:chExt cx="4111371" cy="956310"/>
          </a:xfrm>
        </p:grpSpPr>
        <p:sp>
          <p:nvSpPr>
            <p:cNvPr id="33" name="TextBox 33"/>
            <p:cNvSpPr txBox="1"/>
            <p:nvPr/>
          </p:nvSpPr>
          <p:spPr>
            <a:xfrm>
              <a:off x="520065" y="3220402"/>
              <a:ext cx="15000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2A44"/>
                  </a:solidFill>
                  <a:latin typeface="Arial"/>
                  <a:ea typeface="Microsoft YaHei"/>
                  <a:cs typeface="Arial"/>
                </a:rPr>
                <a:t>MVP 假设（待验证）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342900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61975" y="3600450"/>
              <a:ext cx="3847100" cy="271462"/>
              <a:chOff x="561975" y="3600450"/>
              <a:chExt cx="3847100" cy="2714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61975" y="36004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42862" y="164306"/>
                    </a:moveTo>
                    <a:lnTo>
                      <a:pt x="42862" y="207169"/>
                    </a:lnTo>
                    <a:lnTo>
                      <a:pt x="64294" y="228600"/>
                    </a:lnTo>
                    <a:lnTo>
                      <a:pt x="107156" y="228600"/>
                    </a:lnTo>
                    <a:lnTo>
                      <a:pt x="128588" y="207169"/>
                    </a:lnTo>
                    <a:lnTo>
                      <a:pt x="128588" y="164306"/>
                    </a:lnTo>
                    <a:lnTo>
                      <a:pt x="146298" y="146595"/>
                    </a:lnTo>
                    <a:cubicBezTo>
                      <a:pt x="162403" y="130491"/>
                      <a:pt x="171450" y="108605"/>
                      <a:pt x="171450" y="85830"/>
                    </a:cubicBezTo>
                    <a:cubicBezTo>
                      <a:pt x="171450" y="38486"/>
                      <a:pt x="133069" y="0"/>
                      <a:pt x="85725" y="0"/>
                    </a:cubicBezTo>
                    <a:cubicBezTo>
                      <a:pt x="38380" y="0"/>
                      <a:pt x="0" y="38486"/>
                      <a:pt x="0" y="85830"/>
                    </a:cubicBezTo>
                    <a:cubicBezTo>
                      <a:pt x="0" y="108605"/>
                      <a:pt x="9047" y="130491"/>
                      <a:pt x="25152" y="146595"/>
                    </a:cubicBezTo>
                    <a:lnTo>
                      <a:pt x="42862" y="164306"/>
                    </a:lnTo>
                    <a:close/>
                    <a:moveTo>
                      <a:pt x="71438" y="141074"/>
                    </a:moveTo>
                    <a:lnTo>
                      <a:pt x="71438" y="85725"/>
                    </a:lnTo>
                    <a:lnTo>
                      <a:pt x="100012" y="85725"/>
                    </a:lnTo>
                    <a:lnTo>
                      <a:pt x="100012" y="141074"/>
                    </a:lnTo>
                    <a:cubicBezTo>
                      <a:pt x="124661" y="134730"/>
                      <a:pt x="142875" y="112355"/>
                      <a:pt x="142875" y="85725"/>
                    </a:cubicBezTo>
                    <a:cubicBezTo>
                      <a:pt x="142875" y="54162"/>
                      <a:pt x="117288" y="28575"/>
                      <a:pt x="85725" y="28575"/>
                    </a:cubicBezTo>
                    <a:cubicBezTo>
                      <a:pt x="54162" y="28575"/>
                      <a:pt x="28575" y="54162"/>
                      <a:pt x="28575" y="85725"/>
                    </a:cubicBezTo>
                    <a:cubicBezTo>
                      <a:pt x="28575" y="112355"/>
                      <a:pt x="46788" y="134730"/>
                      <a:pt x="71438" y="141074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62965" y="3658552"/>
                <a:ext cx="3546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H1 · LLM 拿到结构化错误后单轮自修正成功率 ≥ 70%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61975" y="3905250"/>
              <a:ext cx="4069461" cy="271462"/>
              <a:chOff x="561975" y="3905250"/>
              <a:chExt cx="4069461" cy="2714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561975" y="39052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42862" y="164306"/>
                    </a:moveTo>
                    <a:lnTo>
                      <a:pt x="42862" y="207169"/>
                    </a:lnTo>
                    <a:lnTo>
                      <a:pt x="64294" y="228600"/>
                    </a:lnTo>
                    <a:lnTo>
                      <a:pt x="107156" y="228600"/>
                    </a:lnTo>
                    <a:lnTo>
                      <a:pt x="128588" y="207169"/>
                    </a:lnTo>
                    <a:lnTo>
                      <a:pt x="128588" y="164306"/>
                    </a:lnTo>
                    <a:lnTo>
                      <a:pt x="146298" y="146595"/>
                    </a:lnTo>
                    <a:cubicBezTo>
                      <a:pt x="162403" y="130491"/>
                      <a:pt x="171450" y="108605"/>
                      <a:pt x="171450" y="85830"/>
                    </a:cubicBezTo>
                    <a:cubicBezTo>
                      <a:pt x="171450" y="38486"/>
                      <a:pt x="133069" y="0"/>
                      <a:pt x="85725" y="0"/>
                    </a:cubicBezTo>
                    <a:cubicBezTo>
                      <a:pt x="38380" y="0"/>
                      <a:pt x="0" y="38486"/>
                      <a:pt x="0" y="85830"/>
                    </a:cubicBezTo>
                    <a:cubicBezTo>
                      <a:pt x="0" y="108605"/>
                      <a:pt x="9047" y="130491"/>
                      <a:pt x="25152" y="146595"/>
                    </a:cubicBezTo>
                    <a:lnTo>
                      <a:pt x="42862" y="164306"/>
                    </a:lnTo>
                    <a:close/>
                    <a:moveTo>
                      <a:pt x="71438" y="141074"/>
                    </a:moveTo>
                    <a:lnTo>
                      <a:pt x="71438" y="85725"/>
                    </a:lnTo>
                    <a:lnTo>
                      <a:pt x="100012" y="85725"/>
                    </a:lnTo>
                    <a:lnTo>
                      <a:pt x="100012" y="141074"/>
                    </a:lnTo>
                    <a:cubicBezTo>
                      <a:pt x="124661" y="134730"/>
                      <a:pt x="142875" y="112355"/>
                      <a:pt x="142875" y="85725"/>
                    </a:cubicBezTo>
                    <a:cubicBezTo>
                      <a:pt x="142875" y="54162"/>
                      <a:pt x="117288" y="28575"/>
                      <a:pt x="85725" y="28575"/>
                    </a:cubicBezTo>
                    <a:cubicBezTo>
                      <a:pt x="54162" y="28575"/>
                      <a:pt x="28575" y="54162"/>
                      <a:pt x="28575" y="85725"/>
                    </a:cubicBezTo>
                    <a:cubicBezTo>
                      <a:pt x="28575" y="112355"/>
                      <a:pt x="46788" y="134730"/>
                      <a:pt x="71438" y="141074"/>
                    </a:cubicBez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62965" y="3963352"/>
                <a:ext cx="37684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H2 · 单次排查查询去重率足够，缓存收益 &gt; 复杂度成本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33400" y="4267200"/>
            <a:ext cx="6667500" cy="1981200"/>
            <a:chOff x="533400" y="4267200"/>
            <a:chExt cx="6667500" cy="1981200"/>
          </a:xfrm>
        </p:grpSpPr>
        <p:sp>
          <p:nvSpPr>
            <p:cNvPr id="42" name="Rectangle 42"/>
            <p:cNvSpPr/>
            <p:nvPr/>
          </p:nvSpPr>
          <p:spPr>
            <a:xfrm>
              <a:off x="533400" y="4267200"/>
              <a:ext cx="6667500" cy="1981200"/>
            </a:xfrm>
            <a:prstGeom prst="roundRect">
              <a:avLst>
                <a:gd name="adj" fmla="val 3846"/>
              </a:avLst>
            </a:prstGeom>
            <a:solidFill>
              <a:srgbClr val="F4F6FA"/>
            </a:solidFill>
            <a:ln w="13335">
              <a:solidFill>
                <a:srgbClr val="C6282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267200"/>
              <a:ext cx="6667500" cy="5715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723900" y="453390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214312"/>
                  </a:moveTo>
                  <a:lnTo>
                    <a:pt x="90488" y="304800"/>
                  </a:lnTo>
                  <a:lnTo>
                    <a:pt x="214312" y="304800"/>
                  </a:lnTo>
                  <a:lnTo>
                    <a:pt x="304800" y="214312"/>
                  </a:lnTo>
                  <a:lnTo>
                    <a:pt x="304800" y="90488"/>
                  </a:lnTo>
                  <a:lnTo>
                    <a:pt x="214312" y="0"/>
                  </a:lnTo>
                  <a:lnTo>
                    <a:pt x="90488" y="0"/>
                  </a:lnTo>
                  <a:lnTo>
                    <a:pt x="0" y="90488"/>
                  </a:lnTo>
                  <a:lnTo>
                    <a:pt x="0" y="214312"/>
                  </a:lnTo>
                  <a:close/>
                  <a:moveTo>
                    <a:pt x="133350" y="57150"/>
                  </a:move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57150"/>
                  </a:lnTo>
                  <a:lnTo>
                    <a:pt x="133350" y="57150"/>
                  </a:lnTo>
                  <a:close/>
                  <a:moveTo>
                    <a:pt x="133350" y="209550"/>
                  </a:moveTo>
                  <a:lnTo>
                    <a:pt x="133350" y="247650"/>
                  </a:lnTo>
                  <a:lnTo>
                    <a:pt x="171450" y="247650"/>
                  </a:lnTo>
                  <a:lnTo>
                    <a:pt x="171450" y="209550"/>
                  </a:lnTo>
                  <a:lnTo>
                    <a:pt x="133350" y="209550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29665" y="4630102"/>
              <a:ext cx="1652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RISK · 前置风险与应对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10565" y="4877752"/>
              <a:ext cx="4639437" cy="415767"/>
              <a:chOff x="710565" y="4877752"/>
              <a:chExt cx="4639437" cy="415767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710565" y="4877752"/>
                <a:ext cx="19669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LLM 生成 QL 首次错误率高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11518" y="5095399"/>
                <a:ext cx="46384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→ SafeToolExecutor 自修正闭环（最多 3 次回灌）+ 元数据缓存 L2 校验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710565" y="5334952"/>
              <a:ext cx="4468559" cy="415767"/>
              <a:chOff x="710565" y="5334952"/>
              <a:chExt cx="4468559" cy="415767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710565" y="5334952"/>
                <a:ext cx="19428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观测后端 5xx / 超时 / 429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11518" y="5552599"/>
                <a:ext cx="44676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→ timeout + 指数退避 + 失败自修正 + 部分 RCA 优雅收尾（ADR-005）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10565" y="5792152"/>
              <a:ext cx="3955923" cy="415767"/>
              <a:chOff x="710565" y="5792152"/>
              <a:chExt cx="3955923" cy="415767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710565" y="5792152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2A44"/>
                    </a:solidFill>
                    <a:latin typeface="Arial"/>
                    <a:ea typeface="Microsoft YaHei"/>
                    <a:cs typeface="Arial"/>
                  </a:rPr>
                  <a:t>组织信任建立曲线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11518" y="6009799"/>
                <a:ext cx="39549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A6B7E"/>
                    </a:solidFill>
                    <a:latin typeface="Arial"/>
                    <a:ea typeface="Microsoft YaHei"/>
                    <a:cs typeface="Arial"/>
                  </a:rPr>
                  <a:t>→ 2 分钟模拟故障上手引导（D-3）+ 置信度升级机制（PM-2）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7429500" y="4267200"/>
            <a:ext cx="4229100" cy="2238375"/>
            <a:chOff x="7429500" y="4267200"/>
            <a:chExt cx="4229100" cy="2238375"/>
          </a:xfrm>
        </p:grpSpPr>
        <p:sp>
          <p:nvSpPr>
            <p:cNvPr id="56" name="Rectangle 56"/>
            <p:cNvSpPr/>
            <p:nvPr/>
          </p:nvSpPr>
          <p:spPr>
            <a:xfrm>
              <a:off x="7429500" y="4267200"/>
              <a:ext cx="4229100" cy="1981200"/>
            </a:xfrm>
            <a:prstGeom prst="roundRect">
              <a:avLst>
                <a:gd name="adj" fmla="val 3846"/>
              </a:avLst>
            </a:prstGeom>
            <a:solidFill>
              <a:srgbClr val="0F2A4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44765" y="4439602"/>
              <a:ext cx="1822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A6A6"/>
                  </a:solidFill>
                  <a:latin typeface="Arial"/>
                  <a:ea typeface="Microsoft YaHei"/>
                  <a:cs typeface="Arial"/>
                </a:rPr>
                <a:t>SUCCESS · MVP 成功标准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658100" y="46291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00A6A6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658100" y="4857750"/>
              <a:ext cx="2686228" cy="466725"/>
              <a:chOff x="7658100" y="4857750"/>
              <a:chExt cx="2686228" cy="466725"/>
            </a:xfrm>
          </p:grpSpPr>
          <p:grpSp>
            <p:nvGrpSpPr>
              <p:cNvPr id="61" name="Group 61"/>
              <p:cNvGrpSpPr/>
              <p:nvPr/>
            </p:nvGrpSpPr>
            <p:grpSpPr>
              <a:xfrm>
                <a:off x="7658100" y="4857750"/>
                <a:ext cx="228600" cy="228600"/>
                <a:chOff x="7658100" y="4857750"/>
                <a:chExt cx="228600" cy="228600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7715250" y="49149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57150" y="0"/>
                      </a:moveTo>
                      <a:cubicBezTo>
                        <a:pt x="25587" y="0"/>
                        <a:pt x="0" y="25587"/>
                        <a:pt x="0" y="57150"/>
                      </a:cubicBez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lose/>
                      <a:moveTo>
                        <a:pt x="28575" y="57150"/>
                      </a:moveTo>
                      <a:cubicBezTo>
                        <a:pt x="28575" y="41368"/>
                        <a:pt x="41368" y="28575"/>
                        <a:pt x="57150" y="28575"/>
                      </a:cubicBezTo>
                      <a:cubicBezTo>
                        <a:pt x="72932" y="28575"/>
                        <a:pt x="85725" y="41368"/>
                        <a:pt x="85725" y="57150"/>
                      </a:cubicBezTo>
                      <a:cubicBezTo>
                        <a:pt x="85725" y="72932"/>
                        <a:pt x="72932" y="85725"/>
                        <a:pt x="57150" y="85725"/>
                      </a:cubicBezTo>
                      <a:cubicBezTo>
                        <a:pt x="41368" y="85725"/>
                        <a:pt x="28575" y="72932"/>
                        <a:pt x="28575" y="5715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658100" y="48577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114300" y="0"/>
                      </a:moveTo>
                      <a:cubicBezTo>
                        <a:pt x="51174" y="0"/>
                        <a:pt x="0" y="51174"/>
                        <a:pt x="0" y="114300"/>
                      </a:cubicBez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lose/>
                      <a:moveTo>
                        <a:pt x="28575" y="114300"/>
                      </a:moveTo>
                      <a:cubicBezTo>
                        <a:pt x="28575" y="66955"/>
                        <a:pt x="66955" y="28575"/>
                        <a:pt x="114300" y="28575"/>
                      </a:cubicBezTo>
                      <a:cubicBezTo>
                        <a:pt x="161644" y="28575"/>
                        <a:pt x="200025" y="66955"/>
                        <a:pt x="200025" y="114300"/>
                      </a:cubicBezTo>
                      <a:cubicBezTo>
                        <a:pt x="200025" y="161644"/>
                        <a:pt x="161644" y="200025"/>
                        <a:pt x="114300" y="200025"/>
                      </a:cubicBezTo>
                      <a:cubicBezTo>
                        <a:pt x="66955" y="200025"/>
                        <a:pt x="28575" y="161644"/>
                        <a:pt x="28575" y="11430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7986712" y="4907756"/>
                <a:ext cx="2357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自闭环率（deflection rate）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989570" y="5141595"/>
                <a:ext cx="187623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开发能独立闭环 ≥ 60% 排查请求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7658100" y="5448300"/>
              <a:ext cx="2772489" cy="466725"/>
              <a:chOff x="7658100" y="5448300"/>
              <a:chExt cx="2772489" cy="4667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658100" y="5448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114300" y="228600"/>
                    </a:move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  <a:cubicBezTo>
                      <a:pt x="0" y="177426"/>
                      <a:pt x="51174" y="228600"/>
                      <a:pt x="114300" y="228600"/>
                    </a:cubicBezTo>
                    <a:close/>
                    <a:moveTo>
                      <a:pt x="100012" y="42862"/>
                    </a:moveTo>
                    <a:lnTo>
                      <a:pt x="100012" y="120218"/>
                    </a:lnTo>
                    <a:lnTo>
                      <a:pt x="147060" y="167265"/>
                    </a:lnTo>
                    <a:lnTo>
                      <a:pt x="167265" y="147060"/>
                    </a:lnTo>
                    <a:lnTo>
                      <a:pt x="128588" y="108382"/>
                    </a:lnTo>
                    <a:lnTo>
                      <a:pt x="128588" y="42862"/>
                    </a:lnTo>
                    <a:lnTo>
                      <a:pt x="100012" y="42862"/>
                    </a:lnTo>
                    <a:close/>
                  </a:path>
                </a:pathLst>
              </a:cu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986712" y="5498306"/>
                <a:ext cx="24438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平均排查时长（MTTR-Invest）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989570" y="5732145"/>
                <a:ext cx="20405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从"找 SRE 等回复"压缩至 ≤ 5 分钟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7658100" y="6053138"/>
              <a:ext cx="2542889" cy="452437"/>
              <a:chOff x="7658100" y="6053138"/>
              <a:chExt cx="2542889" cy="452437"/>
            </a:xfrm>
          </p:grpSpPr>
          <p:grpSp>
            <p:nvGrpSpPr>
              <p:cNvPr id="73" name="Group 73"/>
              <p:cNvGrpSpPr/>
              <p:nvPr/>
            </p:nvGrpSpPr>
            <p:grpSpPr>
              <a:xfrm>
                <a:off x="7658100" y="6053138"/>
                <a:ext cx="228600" cy="200024"/>
                <a:chOff x="7658100" y="6053138"/>
                <a:chExt cx="228600" cy="200024"/>
              </a:xfrm>
            </p:grpSpPr>
            <p:sp>
              <p:nvSpPr>
                <p:cNvPr id="69" name="Freeform 69"/>
                <p:cNvSpPr/>
                <p:nvPr/>
              </p:nvSpPr>
              <p:spPr>
                <a:xfrm>
                  <a:off x="7700962" y="6053138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71438" y="35719"/>
                      </a:moveTo>
                      <a:cubicBezTo>
                        <a:pt x="71438" y="55446"/>
                        <a:pt x="55446" y="71438"/>
                        <a:pt x="35719" y="71438"/>
                      </a:cubicBezTo>
                      <a:cubicBezTo>
                        <a:pt x="15992" y="71438"/>
                        <a:pt x="0" y="55446"/>
                        <a:pt x="0" y="35719"/>
                      </a:cubicBezTo>
                      <a:cubicBezTo>
                        <a:pt x="0" y="15992"/>
                        <a:pt x="15992" y="0"/>
                        <a:pt x="35719" y="0"/>
                      </a:cubicBezTo>
                      <a:cubicBezTo>
                        <a:pt x="55446" y="0"/>
                        <a:pt x="71438" y="15992"/>
                        <a:pt x="71438" y="35719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658100" y="6153150"/>
                  <a:ext cx="1143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00012">
                      <a:moveTo>
                        <a:pt x="42862" y="0"/>
                      </a:moveTo>
                      <a:cubicBezTo>
                        <a:pt x="19190" y="0"/>
                        <a:pt x="0" y="19190"/>
                        <a:pt x="0" y="42862"/>
                      </a:cubicBezTo>
                      <a:lnTo>
                        <a:pt x="0" y="100012"/>
                      </a:lnTo>
                      <a:lnTo>
                        <a:pt x="114300" y="100012"/>
                      </a:lnTo>
                      <a:lnTo>
                        <a:pt x="114300" y="0"/>
                      </a:lnTo>
                      <a:lnTo>
                        <a:pt x="42862" y="0"/>
                      </a:ln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800975" y="6153150"/>
                  <a:ext cx="857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00012">
                      <a:moveTo>
                        <a:pt x="42862" y="0"/>
                      </a:moveTo>
                      <a:lnTo>
                        <a:pt x="0" y="0"/>
                      </a:lnTo>
                      <a:lnTo>
                        <a:pt x="0" y="100012"/>
                      </a:lnTo>
                      <a:lnTo>
                        <a:pt x="85725" y="100012"/>
                      </a:lnTo>
                      <a:lnTo>
                        <a:pt x="85725" y="42862"/>
                      </a:lnTo>
                      <a:cubicBezTo>
                        <a:pt x="85725" y="19190"/>
                        <a:pt x="66535" y="0"/>
                        <a:pt x="42862" y="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7800975" y="6067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  <a:close/>
                    </a:path>
                  </a:pathLst>
                </a:custGeom>
                <a:solidFill>
                  <a:srgbClr val="00A6A6"/>
                </a:solidFill>
                <a:ln>
                  <a:noFill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7986712" y="6088856"/>
                <a:ext cx="1227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SRE 被打扰次数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989570" y="6322695"/>
                <a:ext cx="22114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8C0DA"/>
                    </a:solidFill>
                    <a:latin typeface="Arial"/>
                    <a:ea typeface="Microsoft YaHei"/>
                    <a:cs typeface="Arial"/>
                  </a:rPr>
                  <a:t>下降 ≥ 50%，On-call 可专注高阶工作</a:t>
                </a:r>
              </a:p>
            </p:txBody>
          </p:sp>
        </p:grpSp>
      </p:grpSp>
      <p:sp>
        <p:nvSpPr>
          <p:cNvPr id="78" name="Line 78"/>
          <p:cNvSpPr/>
          <p:nvPr/>
        </p:nvSpPr>
        <p:spPr>
          <a:xfrm>
            <a:off x="533400" y="64389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522922" y="6578441"/>
            <a:ext cx="26958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tech-design-ql-selfheal §1 · brainstorm Top 5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268575" y="65784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96A6"/>
                </a:solidFill>
                <a:latin typeface="Arial"/>
                <a:ea typeface="Microsoft YaHei"/>
                <a:cs typeface="Arial"/>
              </a:rPr>
              <a:t>P11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/>
      <p:bldP spid="55" grpId="0"/>
      <p:bldP spid="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FFFFFF"/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A6A6">
                  <a:alpha val="20000"/>
                </a:srgbClr>
              </a:gs>
              <a:gs pos="100000">
                <a:srgbClr val="00A6A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539750"/>
            <a:ext cx="12192000" cy="406400"/>
            <a:chOff x="0" y="539750"/>
            <a:chExt cx="12192000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539750"/>
              <a:ext cx="12192000" cy="254000"/>
            </a:xfrm>
            <a:custGeom>
              <a:avLst/>
              <a:gdLst/>
              <a:ahLst/>
              <a:cxnLst/>
              <a:rect l="l" t="t" r="r" b="b"/>
              <a:pathLst>
                <a:path w="12192000" h="254000">
                  <a:moveTo>
                    <a:pt x="0" y="127000"/>
                  </a:moveTo>
                  <a:cubicBezTo>
                    <a:pt x="508000" y="0"/>
                    <a:pt x="1016000" y="0"/>
                    <a:pt x="1524000" y="127000"/>
                  </a:cubicBezTo>
                  <a:cubicBezTo>
                    <a:pt x="2032000" y="254000"/>
                    <a:pt x="2540000" y="254000"/>
                    <a:pt x="3048000" y="127000"/>
                  </a:cubicBezTo>
                  <a:cubicBezTo>
                    <a:pt x="3556000" y="0"/>
                    <a:pt x="4064000" y="0"/>
                    <a:pt x="4572000" y="127000"/>
                  </a:cubicBezTo>
                  <a:cubicBezTo>
                    <a:pt x="5080000" y="254000"/>
                    <a:pt x="5588000" y="254000"/>
                    <a:pt x="6096000" y="127000"/>
                  </a:cubicBezTo>
                  <a:cubicBezTo>
                    <a:pt x="6604000" y="0"/>
                    <a:pt x="7112000" y="0"/>
                    <a:pt x="7620000" y="127000"/>
                  </a:cubicBezTo>
                  <a:cubicBezTo>
                    <a:pt x="8128000" y="254000"/>
                    <a:pt x="8636000" y="254000"/>
                    <a:pt x="9144000" y="127000"/>
                  </a:cubicBezTo>
                  <a:cubicBezTo>
                    <a:pt x="9652000" y="0"/>
                    <a:pt x="10160000" y="0"/>
                    <a:pt x="10668000" y="127000"/>
                  </a:cubicBezTo>
                  <a:cubicBezTo>
                    <a:pt x="11176000" y="254000"/>
                    <a:pt x="11684000" y="254000"/>
                    <a:pt x="12192000" y="127000"/>
                  </a:cubicBezTo>
                </a:path>
              </a:pathLst>
            </a:custGeom>
            <a:noFill/>
            <a:ln w="13335">
              <a:solidFill>
                <a:srgbClr val="00A6A6">
                  <a:alpha val="55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768350"/>
              <a:ext cx="12192000" cy="177800"/>
            </a:xfrm>
            <a:custGeom>
              <a:avLst/>
              <a:gdLst/>
              <a:ahLst/>
              <a:cxnLst/>
              <a:rect l="l" t="t" r="r" b="b"/>
              <a:pathLst>
                <a:path w="12192000" h="177800">
                  <a:moveTo>
                    <a:pt x="0" y="88900"/>
                  </a:moveTo>
                  <a:cubicBezTo>
                    <a:pt x="508000" y="0"/>
                    <a:pt x="1016000" y="0"/>
                    <a:pt x="1524000" y="88900"/>
                  </a:cubicBezTo>
                  <a:cubicBezTo>
                    <a:pt x="2032000" y="177800"/>
                    <a:pt x="2540000" y="177800"/>
                    <a:pt x="3048000" y="88900"/>
                  </a:cubicBezTo>
                  <a:cubicBezTo>
                    <a:pt x="3556000" y="0"/>
                    <a:pt x="4064000" y="0"/>
                    <a:pt x="4572000" y="88900"/>
                  </a:cubicBezTo>
                  <a:cubicBezTo>
                    <a:pt x="5080000" y="177800"/>
                    <a:pt x="5588000" y="177800"/>
                    <a:pt x="6096000" y="88900"/>
                  </a:cubicBezTo>
                  <a:cubicBezTo>
                    <a:pt x="6604000" y="0"/>
                    <a:pt x="7112000" y="0"/>
                    <a:pt x="7620000" y="88900"/>
                  </a:cubicBezTo>
                  <a:cubicBezTo>
                    <a:pt x="8128000" y="177800"/>
                    <a:pt x="8636000" y="177800"/>
                    <a:pt x="9144000" y="88900"/>
                  </a:cubicBezTo>
                  <a:cubicBezTo>
                    <a:pt x="9652000" y="0"/>
                    <a:pt x="10160000" y="0"/>
                    <a:pt x="10668000" y="88900"/>
                  </a:cubicBezTo>
                  <a:cubicBezTo>
                    <a:pt x="11176000" y="177800"/>
                    <a:pt x="11684000" y="177800"/>
                    <a:pt x="12192000" y="88900"/>
                  </a:cubicBezTo>
                </a:path>
              </a:pathLst>
            </a:custGeom>
            <a:noFill/>
            <a:ln w="9525">
              <a:solidFill>
                <a:srgbClr val="4A6FA5">
                  <a:alpha val="45000"/>
                </a:srgbClr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20065" y="1791652"/>
            <a:ext cx="14678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A6A6"/>
                </a:solidFill>
                <a:latin typeface="Arial"/>
                <a:ea typeface="Microsoft YaHei"/>
                <a:cs typeface="Arial"/>
              </a:rPr>
              <a:t>CLOSING · 立项期望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1981200"/>
            <a:ext cx="609600" cy="28575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76250" y="2276475"/>
            <a:ext cx="356473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让每个开发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250" y="2943225"/>
            <a:ext cx="4254818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都能独立闭环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6250" y="3609975"/>
            <a:ext cx="356473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自己的故障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0540" y="4472940"/>
            <a:ext cx="53041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A8C0DA"/>
                </a:solidFill>
                <a:latin typeface="Arial"/>
                <a:ea typeface="Microsoft YaHei"/>
                <a:cs typeface="Arial"/>
              </a:rPr>
              <a:t>SRE 不再是"查日志客服"，而是平台工程师</a:t>
            </a:r>
          </a:p>
        </p:txBody>
      </p:sp>
      <p:sp>
        <p:nvSpPr>
          <p:cNvPr id="14" name="Line 14"/>
          <p:cNvSpPr/>
          <p:nvPr/>
        </p:nvSpPr>
        <p:spPr>
          <a:xfrm>
            <a:off x="533400" y="49530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4A6FA5">
                <a:alpha val="60000"/>
              </a:srgbClr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533400" y="5295900"/>
            <a:ext cx="11125200" cy="952500"/>
            <a:chOff x="533400" y="5295900"/>
            <a:chExt cx="11125200" cy="952500"/>
          </a:xfrm>
        </p:grpSpPr>
        <p:grpSp>
          <p:nvGrpSpPr>
            <p:cNvPr id="19" name="Group 19"/>
            <p:cNvGrpSpPr/>
            <p:nvPr/>
          </p:nvGrpSpPr>
          <p:grpSpPr>
            <a:xfrm>
              <a:off x="533400" y="5295900"/>
              <a:ext cx="3619500" cy="952500"/>
              <a:chOff x="533400" y="5295900"/>
              <a:chExt cx="3619500" cy="952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5295900"/>
                <a:ext cx="36195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FFFFFF">
                  <a:alpha val="6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11518" y="54954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阅读材料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10565" y="5754052"/>
                <a:ext cx="10387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PRD · 6 个 ADR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10565" y="5944552"/>
                <a:ext cx="18132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tech-design-ql-selfheal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86250" y="5295900"/>
              <a:ext cx="3619500" cy="952500"/>
              <a:chOff x="4286250" y="5295900"/>
              <a:chExt cx="3619500" cy="952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286250" y="5295900"/>
                <a:ext cx="36195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FFFFFF">
                  <a:alpha val="6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464368" y="5495449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立项目标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63415" y="5754052"/>
                <a:ext cx="1291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V1.0 完成原生闭环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463415" y="59445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与可靠性护栏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39100" y="5295900"/>
              <a:ext cx="3619500" cy="952500"/>
              <a:chOff x="8039100" y="5295900"/>
              <a:chExt cx="3619500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039100" y="5295900"/>
                <a:ext cx="36195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FFFFFF">
                  <a:alpha val="6000"/>
                </a:srgbClr>
              </a:solidFill>
              <a:ln w="9525">
                <a:solidFill>
                  <a:srgbClr val="00A6A6">
                    <a:alpha val="60000"/>
                  </a:srgbClr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217218" y="5495449"/>
                <a:ext cx="3238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6A6"/>
                    </a:solidFill>
                    <a:latin typeface="Arial"/>
                    <a:ea typeface="Microsoft YaHei"/>
                    <a:cs typeface="Arial"/>
                  </a:rPr>
                  <a:t>期待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216265" y="5754052"/>
                <a:ext cx="1575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SRE 团队 · 工程负责人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16265" y="5944552"/>
                <a:ext cx="1429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共同评审 · 共担共建</a:t>
                </a:r>
              </a:p>
            </p:txBody>
          </p:sp>
        </p:grpSp>
      </p:grpSp>
      <p:sp>
        <p:nvSpPr>
          <p:cNvPr id="31" name="Freeform 31"/>
          <p:cNvSpPr/>
          <p:nvPr/>
        </p:nvSpPr>
        <p:spPr>
          <a:xfrm>
            <a:off x="10858500" y="2286000"/>
            <a:ext cx="762000" cy="714375"/>
          </a:xfrm>
          <a:custGeom>
            <a:avLst/>
            <a:gdLst/>
            <a:ahLst/>
            <a:cxnLst/>
            <a:rect l="l" t="t" r="r" b="b"/>
            <a:pathLst>
              <a:path w="762000" h="714375">
                <a:moveTo>
                  <a:pt x="428625" y="0"/>
                </a:moveTo>
                <a:lnTo>
                  <a:pt x="428625" y="95250"/>
                </a:lnTo>
                <a:lnTo>
                  <a:pt x="619125" y="95250"/>
                </a:lnTo>
                <a:lnTo>
                  <a:pt x="762000" y="404812"/>
                </a:lnTo>
                <a:lnTo>
                  <a:pt x="619125" y="714375"/>
                </a:lnTo>
                <a:lnTo>
                  <a:pt x="142875" y="714375"/>
                </a:lnTo>
                <a:lnTo>
                  <a:pt x="0" y="404812"/>
                </a:lnTo>
                <a:lnTo>
                  <a:pt x="142875" y="95250"/>
                </a:lnTo>
                <a:lnTo>
                  <a:pt x="333375" y="95250"/>
                </a:lnTo>
                <a:lnTo>
                  <a:pt x="333375" y="0"/>
                </a:lnTo>
                <a:lnTo>
                  <a:pt x="428625" y="0"/>
                </a:lnTo>
                <a:close/>
                <a:moveTo>
                  <a:pt x="218977" y="559041"/>
                </a:moveTo>
                <a:lnTo>
                  <a:pt x="381000" y="583968"/>
                </a:lnTo>
                <a:lnTo>
                  <a:pt x="543025" y="559041"/>
                </a:lnTo>
                <a:lnTo>
                  <a:pt x="528537" y="464898"/>
                </a:lnTo>
                <a:lnTo>
                  <a:pt x="381000" y="487594"/>
                </a:lnTo>
                <a:lnTo>
                  <a:pt x="233461" y="464898"/>
                </a:lnTo>
                <a:lnTo>
                  <a:pt x="218977" y="559041"/>
                </a:lnTo>
                <a:close/>
                <a:moveTo>
                  <a:pt x="333375" y="321469"/>
                </a:moveTo>
                <a:cubicBezTo>
                  <a:pt x="333375" y="354347"/>
                  <a:pt x="306722" y="381000"/>
                  <a:pt x="273844" y="381000"/>
                </a:cubicBezTo>
                <a:cubicBezTo>
                  <a:pt x="240965" y="381000"/>
                  <a:pt x="214312" y="354347"/>
                  <a:pt x="214312" y="321469"/>
                </a:cubicBezTo>
                <a:cubicBezTo>
                  <a:pt x="214312" y="288590"/>
                  <a:pt x="240965" y="261938"/>
                  <a:pt x="273844" y="261938"/>
                </a:cubicBezTo>
                <a:cubicBezTo>
                  <a:pt x="306722" y="261938"/>
                  <a:pt x="333375" y="288590"/>
                  <a:pt x="333375" y="321469"/>
                </a:cubicBezTo>
                <a:close/>
                <a:moveTo>
                  <a:pt x="488156" y="381000"/>
                </a:moveTo>
                <a:cubicBezTo>
                  <a:pt x="521037" y="381000"/>
                  <a:pt x="547688" y="354347"/>
                  <a:pt x="547688" y="321469"/>
                </a:cubicBezTo>
                <a:cubicBezTo>
                  <a:pt x="547688" y="288590"/>
                  <a:pt x="521037" y="261938"/>
                  <a:pt x="488156" y="261938"/>
                </a:cubicBezTo>
                <a:cubicBezTo>
                  <a:pt x="455278" y="261938"/>
                  <a:pt x="428625" y="288590"/>
                  <a:pt x="428625" y="321469"/>
                </a:cubicBezTo>
                <a:cubicBezTo>
                  <a:pt x="428625" y="354347"/>
                  <a:pt x="455278" y="381000"/>
                  <a:pt x="488156" y="381000"/>
                </a:cubicBezTo>
                <a:close/>
              </a:path>
            </a:pathLst>
          </a:custGeom>
          <a:solidFill>
            <a:srgbClr val="00A6A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2922" y="6483191"/>
            <a:ext cx="32922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AI SRE Investigator · MVP V1.0 内部立项评审 · 2026-07-10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38452" y="6483191"/>
            <a:ext cx="4306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5A6B7E"/>
                </a:solidFill>
                <a:latin typeface="Arial"/>
                <a:ea typeface="Microsoft YaHei"/>
                <a:cs typeface="Arial"/>
              </a:rPr>
              <a:t>P12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